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8"/>
  </p:notesMasterIdLst>
  <p:sldIdLst>
    <p:sldId id="256" r:id="rId3"/>
    <p:sldId id="257" r:id="rId4"/>
    <p:sldId id="258" r:id="rId5"/>
    <p:sldId id="259" r:id="rId6"/>
    <p:sldId id="270" r:id="rId7"/>
    <p:sldId id="260" r:id="rId8"/>
    <p:sldId id="272" r:id="rId9"/>
    <p:sldId id="261" r:id="rId10"/>
    <p:sldId id="271" r:id="rId11"/>
    <p:sldId id="269" r:id="rId12"/>
    <p:sldId id="266" r:id="rId13"/>
    <p:sldId id="273" r:id="rId14"/>
    <p:sldId id="267" r:id="rId15"/>
    <p:sldId id="263" r:id="rId16"/>
    <p:sldId id="26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8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760B4F-A8C1-43D7-9EB1-B3BB98C43651}" type="datetimeFigureOut">
              <a:rPr lang="en-IN" smtClean="0"/>
              <a:t>14-04-2026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638FAA-AD17-459E-A2F7-9B6A923BCDF3}" type="slidenum">
              <a:rPr lang="en-IN" smtClean="0"/>
              <a:t>‹#›</a:t>
            </a:fld>
            <a:endParaRPr lang="en-IN"/>
          </a:p>
        </p:txBody>
      </p:sp>
    </p:spTree>
    <p:extLst>
      <p:ext uri="{BB962C8B-B14F-4D97-AF65-F5344CB8AC3E}">
        <p14:creationId xmlns:p14="http://schemas.microsoft.com/office/powerpoint/2010/main" val="1525771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369E-1D01-4E18-A41B-972E5282A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7ACB01-ADDD-13C8-7D78-4FD47D1E3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C7438D-EA18-361E-D59E-1533772630BF}"/>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5" name="Footer Placeholder 4">
            <a:extLst>
              <a:ext uri="{FF2B5EF4-FFF2-40B4-BE49-F238E27FC236}">
                <a16:creationId xmlns:a16="http://schemas.microsoft.com/office/drawing/2014/main" id="{250E2FD9-74C2-C9B0-1BDC-57B92DCB6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E74D17-63FA-E32E-A58E-46645943559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05008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70924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8AFF-E64A-AF8D-BBC2-E5AB945B44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ACB9A4-3B4F-7FE6-9B28-F5EF72B257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CA73C0-5E6E-B28A-6C22-06D9AC4726BF}"/>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5" name="Footer Placeholder 4">
            <a:extLst>
              <a:ext uri="{FF2B5EF4-FFF2-40B4-BE49-F238E27FC236}">
                <a16:creationId xmlns:a16="http://schemas.microsoft.com/office/drawing/2014/main" id="{4C49FA3B-4073-0F86-8AC8-81E0E4C3EB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5269F-612E-B784-B48A-95AA0791073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61024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166B-106E-C76B-9CE8-1B9A4AE5C7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43AF0E-E8F2-1B19-B65C-0E1CC0813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CFFB13-732B-DEF8-DBEC-5F73E2395F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273C03-C9D7-F051-B57E-8DA06873D419}"/>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6" name="Footer Placeholder 5">
            <a:extLst>
              <a:ext uri="{FF2B5EF4-FFF2-40B4-BE49-F238E27FC236}">
                <a16:creationId xmlns:a16="http://schemas.microsoft.com/office/drawing/2014/main" id="{F25D1B14-3A56-41BB-4E4A-4735998ADA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854A9C-028F-0B55-463A-1087581A98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85790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66EC-9430-6B3D-E0CE-0A71B38A96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E26AD1-F80A-C09B-B640-E65D99E68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293B4-0027-A04C-BA3E-441C93A1D8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E42C3-BCA9-FB95-D8DC-7F3044ADD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8EFB4-7BB2-F8E3-21FC-7E4A10DFD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B1C773-744A-FCD3-C078-3DC992C321D2}"/>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8" name="Footer Placeholder 7">
            <a:extLst>
              <a:ext uri="{FF2B5EF4-FFF2-40B4-BE49-F238E27FC236}">
                <a16:creationId xmlns:a16="http://schemas.microsoft.com/office/drawing/2014/main" id="{55F26583-570F-F397-D583-9963BD0D01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F8FC52-BDE3-9E21-7004-9001CC624A2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876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17DB-BC11-A965-7D47-A83062720E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559EBB-66AC-0A22-FB25-AA24D188299F}"/>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4" name="Footer Placeholder 3">
            <a:extLst>
              <a:ext uri="{FF2B5EF4-FFF2-40B4-BE49-F238E27FC236}">
                <a16:creationId xmlns:a16="http://schemas.microsoft.com/office/drawing/2014/main" id="{EF21C889-A42D-7ECD-6189-48F6199C52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3D6C85-1A5C-85A2-D47F-73050C49CB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20732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56DA96-DA53-0AED-0F58-E803782E3196}"/>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3" name="Footer Placeholder 2">
            <a:extLst>
              <a:ext uri="{FF2B5EF4-FFF2-40B4-BE49-F238E27FC236}">
                <a16:creationId xmlns:a16="http://schemas.microsoft.com/office/drawing/2014/main" id="{528408AC-42F9-A3E6-20C6-19B6AFB04F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579749-EC75-7164-FBE8-61C5FD95192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0123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E5F6-B24D-5E61-DC38-DA3F87B34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B0E6B7-31E9-4177-5C1F-03A7DBD36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910E19-657E-B541-E036-959BA4187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A2AEC1-909F-60C3-702B-6244A8A7DA9F}"/>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6" name="Footer Placeholder 5">
            <a:extLst>
              <a:ext uri="{FF2B5EF4-FFF2-40B4-BE49-F238E27FC236}">
                <a16:creationId xmlns:a16="http://schemas.microsoft.com/office/drawing/2014/main" id="{C9E9E6BA-2E7B-3E57-2F0C-5F2FD17199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B71D75-64B2-1389-FADB-ED9520B8A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317443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262D-CF25-FD3A-5B0C-AFA7F0A7D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C1E524-18D7-464E-3F34-14CBF4862E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712348-99C4-F005-5D92-24A299F99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898F6-D595-1FDE-2158-79E6686C822F}"/>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6" name="Footer Placeholder 5">
            <a:extLst>
              <a:ext uri="{FF2B5EF4-FFF2-40B4-BE49-F238E27FC236}">
                <a16:creationId xmlns:a16="http://schemas.microsoft.com/office/drawing/2014/main" id="{D8E67F9F-625D-1107-9BCE-138B29817E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DC0215-9ED1-CB53-652D-46D93AD26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17003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DE86-64B7-9F0A-5001-6F43A0FA6B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37D706-8AAA-2524-04BB-26C4624206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8E778-061C-459E-CD0C-58DCA0CF7CCD}"/>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5" name="Footer Placeholder 4">
            <a:extLst>
              <a:ext uri="{FF2B5EF4-FFF2-40B4-BE49-F238E27FC236}">
                <a16:creationId xmlns:a16="http://schemas.microsoft.com/office/drawing/2014/main" id="{78AFE4EF-7849-CFF9-1385-7BDB42DF62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DA96F9-D0E3-05A9-C32F-CCFCFCE6E65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911948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D04E30-06E1-5212-4B6D-25886B9C37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1C275C-3D2D-2452-9149-89BBE7CA6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C131ED-A5B2-3FF2-8E5C-283664ABEB81}"/>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5" name="Footer Placeholder 4">
            <a:extLst>
              <a:ext uri="{FF2B5EF4-FFF2-40B4-BE49-F238E27FC236}">
                <a16:creationId xmlns:a16="http://schemas.microsoft.com/office/drawing/2014/main" id="{A61C8846-9586-A23A-3D98-740B85ED2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27319-B31F-9567-7E64-8BEAB1A3C6BF}"/>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0747698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2813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279A75-0843-3E26-FA3D-7955B436D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FA1EE1-247A-E887-762B-4BC2DBFD3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3DF53D-E00E-7D7F-402F-506A960A97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FACB4A-C46D-47C8-95BF-463F9F428625}" type="datetimeFigureOut">
              <a:rPr lang="en-IN" smtClean="0"/>
              <a:t>14-04-2026</a:t>
            </a:fld>
            <a:endParaRPr lang="en-IN"/>
          </a:p>
        </p:txBody>
      </p:sp>
      <p:sp>
        <p:nvSpPr>
          <p:cNvPr id="5" name="Footer Placeholder 4">
            <a:extLst>
              <a:ext uri="{FF2B5EF4-FFF2-40B4-BE49-F238E27FC236}">
                <a16:creationId xmlns:a16="http://schemas.microsoft.com/office/drawing/2014/main" id="{EBB7DC96-5252-D529-FF28-16B0D99D0D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F4C6E2-66C6-AF10-CC28-03DE3A9BB6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417152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677551"/>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524000" y="2878179"/>
            <a:ext cx="9144000" cy="1431251"/>
          </a:xfrm>
        </p:spPr>
        <p:txBody>
          <a:bodyPr>
            <a:normAutofit/>
          </a:bodyPr>
          <a:lstStyle/>
          <a:p>
            <a:r>
              <a:rPr lang="en-IN" sz="3100" b="1" dirty="0"/>
              <a:t>An Explainable Ensemble Framework for Air Quality Index Prediction Using TimeGAN-Inspired Preprocessing and Hybrid Deep Learning Models</a:t>
            </a:r>
            <a:endParaRPr lang="en-IN" dirty="0"/>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077411" y="4890977"/>
            <a:ext cx="3239387" cy="1222744"/>
          </a:xfrm>
        </p:spPr>
        <p:txBody>
          <a:bodyPr>
            <a:normAutofit/>
          </a:bodyPr>
          <a:lstStyle/>
          <a:p>
            <a:r>
              <a:rPr lang="en-IN" dirty="0"/>
              <a:t>Submitted By:</a:t>
            </a:r>
            <a:br>
              <a:rPr lang="en-IN" dirty="0"/>
            </a:br>
            <a:r>
              <a:rPr lang="en-IN" dirty="0"/>
              <a:t>Priyal Singhal</a:t>
            </a:r>
          </a:p>
          <a:p>
            <a:r>
              <a:rPr lang="en-IN" dirty="0"/>
              <a:t>23FE10CSE00106</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br>
              <a:rPr lang="en-IN" dirty="0"/>
            </a:br>
            <a:r>
              <a:rPr lang="en-IN" dirty="0"/>
              <a:t>Dr. Praneet Saurabh</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t>School of Computer Science and Engineering</a:t>
            </a:r>
          </a:p>
          <a:p>
            <a:pPr>
              <a:lnSpc>
                <a:spcPct val="150000"/>
              </a:lnSpc>
            </a:pPr>
            <a:r>
              <a:rPr lang="en-IN" sz="2800" b="1" dirty="0"/>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1AEC-0C6A-CF04-A6F2-DE0426255114}"/>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8E86A8CF-2937-6FE2-6F8A-377D2DF1D643}"/>
              </a:ext>
            </a:extLst>
          </p:cNvPr>
          <p:cNvSpPr>
            <a:spLocks noGrp="1"/>
          </p:cNvSpPr>
          <p:nvPr>
            <p:ph idx="1"/>
          </p:nvPr>
        </p:nvSpPr>
        <p:spPr/>
        <p:txBody>
          <a:bodyPr/>
          <a:lstStyle/>
          <a:p>
            <a:pPr>
              <a:buFont typeface="Wingdings" panose="05000000000000000000" pitchFamily="2" charset="2"/>
              <a:buChar char="v"/>
            </a:pPr>
            <a:r>
              <a:rPr lang="en-IN" dirty="0"/>
              <a:t>Introduction</a:t>
            </a:r>
          </a:p>
          <a:p>
            <a:pPr>
              <a:buFont typeface="Wingdings" panose="05000000000000000000" pitchFamily="2" charset="2"/>
              <a:buChar char="v"/>
            </a:pPr>
            <a:r>
              <a:rPr lang="en-IN" dirty="0"/>
              <a:t>Literature Review</a:t>
            </a:r>
          </a:p>
          <a:p>
            <a:pPr>
              <a:buFont typeface="Wingdings" panose="05000000000000000000" pitchFamily="2" charset="2"/>
              <a:buChar char="v"/>
            </a:pPr>
            <a:r>
              <a:rPr lang="en-IN" dirty="0"/>
              <a:t>Problem Statement</a:t>
            </a:r>
          </a:p>
          <a:p>
            <a:pPr>
              <a:buFont typeface="Wingdings" panose="05000000000000000000" pitchFamily="2" charset="2"/>
              <a:buChar char="v"/>
            </a:pPr>
            <a:r>
              <a:rPr lang="en-IN" dirty="0"/>
              <a:t>Proposed Solution</a:t>
            </a:r>
          </a:p>
          <a:p>
            <a:pPr>
              <a:buFont typeface="Wingdings" panose="05000000000000000000" pitchFamily="2" charset="2"/>
              <a:buChar char="v"/>
            </a:pPr>
            <a:r>
              <a:rPr lang="en-IN" dirty="0"/>
              <a:t>Objectives</a:t>
            </a:r>
          </a:p>
          <a:p>
            <a:pPr>
              <a:buFont typeface="Wingdings" panose="05000000000000000000" pitchFamily="2" charset="2"/>
              <a:buChar char="v"/>
            </a:pPr>
            <a:r>
              <a:rPr lang="en-IN" dirty="0"/>
              <a:t>Results</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404721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a:xfrm>
            <a:off x="675587" y="158949"/>
            <a:ext cx="10515600" cy="1325563"/>
          </a:xfrm>
        </p:spPr>
        <p:txBody>
          <a:bodyPr/>
          <a:lstStyle/>
          <a:p>
            <a:r>
              <a:rPr lang="en-IN" dirty="0"/>
              <a:t>Introduction</a:t>
            </a:r>
          </a:p>
        </p:txBody>
      </p:sp>
      <p:sp>
        <p:nvSpPr>
          <p:cNvPr id="3" name="Rectangle 1">
            <a:extLst>
              <a:ext uri="{FF2B5EF4-FFF2-40B4-BE49-F238E27FC236}">
                <a16:creationId xmlns:a16="http://schemas.microsoft.com/office/drawing/2014/main" id="{AA05F21A-AC58-64B6-BBAE-1CC25EBC49D3}"/>
              </a:ext>
            </a:extLst>
          </p:cNvPr>
          <p:cNvSpPr>
            <a:spLocks noGrp="1" noChangeArrowheads="1"/>
          </p:cNvSpPr>
          <p:nvPr>
            <p:ph idx="1"/>
          </p:nvPr>
        </p:nvSpPr>
        <p:spPr bwMode="auto">
          <a:xfrm>
            <a:off x="595800" y="1848556"/>
            <a:ext cx="11092617" cy="4156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nSpc>
                <a:spcPct val="150000"/>
              </a:lnSpc>
              <a:spcAft>
                <a:spcPts val="500"/>
              </a:spcAft>
              <a:buSzPct val="100000"/>
            </a:pPr>
            <a:r>
              <a:rPr lang="en-US" sz="1600" dirty="0">
                <a:solidFill>
                  <a:srgbClr val="0D1B2A"/>
                </a:solidFill>
                <a:latin typeface="Times New Roman" panose="02020603050405020304" pitchFamily="18" charset="0"/>
                <a:ea typeface="Calibri" pitchFamily="34" charset="-122"/>
                <a:cs typeface="Times New Roman" panose="02020603050405020304" pitchFamily="18" charset="0"/>
              </a:rPr>
              <a:t>Air pollution is a critical public health crisis India has some of the world's most polluted cities</a:t>
            </a:r>
            <a:endParaRPr lang="en-US" sz="1600" dirty="0">
              <a:latin typeface="Times New Roman" panose="02020603050405020304" pitchFamily="18" charset="0"/>
              <a:cs typeface="Times New Roman" panose="02020603050405020304" pitchFamily="18" charset="0"/>
            </a:endParaRPr>
          </a:p>
          <a:p>
            <a:pPr marL="342900" indent="-342900">
              <a:lnSpc>
                <a:spcPct val="150000"/>
              </a:lnSpc>
              <a:spcAft>
                <a:spcPts val="500"/>
              </a:spcAft>
              <a:buSzPct val="100000"/>
            </a:pPr>
            <a:r>
              <a:rPr lang="en-US" sz="1600" dirty="0">
                <a:solidFill>
                  <a:srgbClr val="0D1B2A"/>
                </a:solidFill>
                <a:latin typeface="Times New Roman" panose="02020603050405020304" pitchFamily="18" charset="0"/>
                <a:ea typeface="Calibri" pitchFamily="34" charset="-122"/>
                <a:cs typeface="Times New Roman" panose="02020603050405020304" pitchFamily="18" charset="0"/>
              </a:rPr>
              <a:t>The Air Quality Index (AQI) converts pollutant concentrations (PM2.5, PM10, NO₂, SO₂, O₃) into a single health-risk score</a:t>
            </a:r>
            <a:endParaRPr lang="en-US" sz="1600" dirty="0">
              <a:latin typeface="Times New Roman" panose="02020603050405020304" pitchFamily="18" charset="0"/>
              <a:cs typeface="Times New Roman" panose="02020603050405020304" pitchFamily="18" charset="0"/>
            </a:endParaRPr>
          </a:p>
          <a:p>
            <a:pPr marL="342900" indent="-342900">
              <a:lnSpc>
                <a:spcPct val="150000"/>
              </a:lnSpc>
              <a:spcAft>
                <a:spcPts val="500"/>
              </a:spcAft>
              <a:buSzPct val="100000"/>
            </a:pPr>
            <a:r>
              <a:rPr lang="en-US" sz="1600" dirty="0">
                <a:solidFill>
                  <a:srgbClr val="0D1B2A"/>
                </a:solidFill>
                <a:latin typeface="Times New Roman" panose="02020603050405020304" pitchFamily="18" charset="0"/>
                <a:ea typeface="Calibri" pitchFamily="34" charset="-122"/>
                <a:cs typeface="Times New Roman" panose="02020603050405020304" pitchFamily="18" charset="0"/>
              </a:rPr>
              <a:t>Accurate AQI forecasting helps hospitals prepare, schools plan, and policymakers intervene on time</a:t>
            </a:r>
            <a:endParaRPr lang="en-US" sz="1600" dirty="0">
              <a:latin typeface="Times New Roman" panose="02020603050405020304" pitchFamily="18" charset="0"/>
              <a:cs typeface="Times New Roman" panose="02020603050405020304" pitchFamily="18" charset="0"/>
            </a:endParaRPr>
          </a:p>
          <a:p>
            <a:pPr marL="342900" indent="-342900">
              <a:lnSpc>
                <a:spcPct val="150000"/>
              </a:lnSpc>
              <a:spcAft>
                <a:spcPts val="500"/>
              </a:spcAft>
              <a:buSzPct val="100000"/>
            </a:pPr>
            <a:r>
              <a:rPr lang="en-US" sz="1600" dirty="0">
                <a:solidFill>
                  <a:srgbClr val="0D1B2A"/>
                </a:solidFill>
                <a:latin typeface="Times New Roman" panose="02020603050405020304" pitchFamily="18" charset="0"/>
                <a:ea typeface="Calibri" pitchFamily="34" charset="-122"/>
                <a:cs typeface="Times New Roman" panose="02020603050405020304" pitchFamily="18" charset="0"/>
              </a:rPr>
              <a:t>Real-world AQI time-series have three core challenges:</a:t>
            </a:r>
            <a:endParaRPr lang="en-US" sz="1600" dirty="0">
              <a:latin typeface="Times New Roman" panose="02020603050405020304" pitchFamily="18" charset="0"/>
              <a:cs typeface="Times New Roman" panose="02020603050405020304" pitchFamily="18" charset="0"/>
            </a:endParaRPr>
          </a:p>
          <a:p>
            <a:pPr lvl="1" indent="-342900">
              <a:lnSpc>
                <a:spcPct val="150000"/>
              </a:lnSpc>
              <a:spcAft>
                <a:spcPts val="500"/>
              </a:spcAft>
              <a:buSzPct val="100000"/>
            </a:pPr>
            <a:r>
              <a:rPr lang="en-US" sz="1600" dirty="0">
                <a:solidFill>
                  <a:srgbClr val="0D1B2A"/>
                </a:solidFill>
                <a:latin typeface="Times New Roman" panose="02020603050405020304" pitchFamily="18" charset="0"/>
                <a:ea typeface="Calibri" pitchFamily="34" charset="-122"/>
                <a:cs typeface="Times New Roman" panose="02020603050405020304" pitchFamily="18" charset="0"/>
              </a:rPr>
              <a:t>Up to 54% missing values due to sensor failures</a:t>
            </a:r>
            <a:endParaRPr lang="en-US" sz="1600" dirty="0">
              <a:latin typeface="Times New Roman" panose="02020603050405020304" pitchFamily="18" charset="0"/>
              <a:cs typeface="Times New Roman" panose="02020603050405020304" pitchFamily="18" charset="0"/>
            </a:endParaRPr>
          </a:p>
          <a:p>
            <a:pPr lvl="1" indent="-342900">
              <a:lnSpc>
                <a:spcPct val="150000"/>
              </a:lnSpc>
              <a:spcAft>
                <a:spcPts val="500"/>
              </a:spcAft>
              <a:buSzPct val="100000"/>
            </a:pPr>
            <a:r>
              <a:rPr lang="en-US" sz="1600" dirty="0">
                <a:solidFill>
                  <a:srgbClr val="0D1B2A"/>
                </a:solidFill>
                <a:latin typeface="Times New Roman" panose="02020603050405020304" pitchFamily="18" charset="0"/>
                <a:ea typeface="Calibri" pitchFamily="34" charset="-122"/>
                <a:cs typeface="Times New Roman" panose="02020603050405020304" pitchFamily="18" charset="0"/>
              </a:rPr>
              <a:t>Nonlinear, non-stationary interactions between multiple pollutants</a:t>
            </a:r>
            <a:endParaRPr lang="en-US" sz="1600" dirty="0">
              <a:latin typeface="Times New Roman" panose="02020603050405020304" pitchFamily="18" charset="0"/>
              <a:cs typeface="Times New Roman" panose="02020603050405020304" pitchFamily="18" charset="0"/>
            </a:endParaRPr>
          </a:p>
          <a:p>
            <a:pPr lvl="1" indent="-342900">
              <a:lnSpc>
                <a:spcPct val="150000"/>
              </a:lnSpc>
              <a:spcAft>
                <a:spcPts val="500"/>
              </a:spcAft>
              <a:buSzPct val="100000"/>
            </a:pPr>
            <a:r>
              <a:rPr lang="en-US" sz="1600" dirty="0">
                <a:solidFill>
                  <a:srgbClr val="0D1B2A"/>
                </a:solidFill>
                <a:latin typeface="Times New Roman" panose="02020603050405020304" pitchFamily="18" charset="0"/>
                <a:ea typeface="Calibri" pitchFamily="34" charset="-122"/>
                <a:cs typeface="Times New Roman" panose="02020603050405020304" pitchFamily="18" charset="0"/>
              </a:rPr>
              <a:t>Traditional ARIMA : assumes linearity; LSTM : black-box; </a:t>
            </a:r>
            <a:r>
              <a:rPr lang="en-US" sz="1600" dirty="0" err="1">
                <a:solidFill>
                  <a:srgbClr val="0D1B2A"/>
                </a:solidFill>
                <a:latin typeface="Times New Roman" panose="02020603050405020304" pitchFamily="18" charset="0"/>
                <a:ea typeface="Calibri" pitchFamily="34" charset="-122"/>
                <a:cs typeface="Times New Roman" panose="02020603050405020304" pitchFamily="18" charset="0"/>
              </a:rPr>
              <a:t>XGBoost</a:t>
            </a:r>
            <a:r>
              <a:rPr lang="en-US" sz="1600" dirty="0">
                <a:solidFill>
                  <a:srgbClr val="0D1B2A"/>
                </a:solidFill>
                <a:latin typeface="Times New Roman" panose="02020603050405020304" pitchFamily="18" charset="0"/>
                <a:ea typeface="Calibri" pitchFamily="34" charset="-122"/>
                <a:cs typeface="Times New Roman" panose="02020603050405020304" pitchFamily="18" charset="0"/>
              </a:rPr>
              <a:t> : no temporal memory</a:t>
            </a:r>
            <a:endParaRPr lang="en-US" sz="1600" dirty="0">
              <a:latin typeface="Times New Roman" panose="02020603050405020304" pitchFamily="18" charset="0"/>
              <a:cs typeface="Times New Roman" panose="02020603050405020304" pitchFamily="18" charset="0"/>
            </a:endParaRPr>
          </a:p>
          <a:p>
            <a:pPr marL="342900" indent="-342900">
              <a:lnSpc>
                <a:spcPct val="150000"/>
              </a:lnSpc>
              <a:spcAft>
                <a:spcPts val="500"/>
              </a:spcAft>
              <a:buSzPct val="100000"/>
            </a:pPr>
            <a:r>
              <a:rPr lang="en-US" sz="1600" dirty="0">
                <a:solidFill>
                  <a:srgbClr val="0D1B2A"/>
                </a:solidFill>
                <a:latin typeface="Times New Roman" panose="02020603050405020304" pitchFamily="18" charset="0"/>
                <a:ea typeface="Calibri" pitchFamily="34" charset="-122"/>
                <a:cs typeface="Times New Roman" panose="02020603050405020304" pitchFamily="18" charset="0"/>
              </a:rPr>
              <a:t>This paper proposes an XAI Ensemble Framework solving all three challenges simultaneously</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89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a:xfrm>
            <a:off x="479981" y="213517"/>
            <a:ext cx="10515600" cy="1325563"/>
          </a:xfrm>
        </p:spPr>
        <p:txBody>
          <a:bodyPr/>
          <a:lstStyle/>
          <a:p>
            <a:r>
              <a:rPr lang="en-IN" dirty="0"/>
              <a:t>Literature Review</a:t>
            </a:r>
          </a:p>
        </p:txBody>
      </p:sp>
      <p:sp>
        <p:nvSpPr>
          <p:cNvPr id="6" name="Rectangle 3">
            <a:extLst>
              <a:ext uri="{FF2B5EF4-FFF2-40B4-BE49-F238E27FC236}">
                <a16:creationId xmlns:a16="http://schemas.microsoft.com/office/drawing/2014/main" id="{A0080A42-A57E-80A9-41AE-BCBDDED3CF02}"/>
              </a:ext>
            </a:extLst>
          </p:cNvPr>
          <p:cNvSpPr>
            <a:spLocks noGrp="1" noChangeArrowheads="1"/>
          </p:cNvSpPr>
          <p:nvPr>
            <p:ph idx="1"/>
          </p:nvPr>
        </p:nvSpPr>
        <p:spPr bwMode="auto">
          <a:xfrm>
            <a:off x="479981" y="1254475"/>
            <a:ext cx="11324635" cy="5218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 and ARIMA models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were among the earliest methods used for AQI prediction due to their simplicity and interpretability. These models performed well for linear and stationary data but failed to capture nonlinear and volatile AQI patterns.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 (RF)</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was introduced by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Breiman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later applied to AQI prediction, showing improved accuracy over linear models by learning nonlinear relationships. However, RF lacks temporal memory, limiting its effectiveness for time-series forecasting.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Vector Machines (SVM)</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were widely used for AQI classification and regression. While they achieved high accuracy on small datasets, their scalability and real-time performance were limited due to high computational complexity.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Long Short-Term Memory (LSTM)</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networks, proposed by Hochreiter and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Schmidhuber</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significantly improved AQI prediction by capturing temporal dependencies in pollutant time-series data. LSTM models consistently outperformed traditional ML approaches for short-term forecasting.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CNN-LSTM hybrid models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were proposed to enhance performance by combining spatial feature extraction with temporal learning. Studies reported higher stability and accuracy compared to standalone CNN or LSTM models.</a:t>
            </a:r>
          </a:p>
          <a:p>
            <a:pPr marL="0" indent="0" eaLnBrk="0" fontAlgn="base" hangingPunct="0">
              <a:lnSpc>
                <a:spcPct val="150000"/>
              </a:lnSpc>
              <a:spcBef>
                <a:spcPct val="0"/>
              </a:spcBef>
              <a:spcAft>
                <a:spcPct val="0"/>
              </a:spcAft>
              <a:buFontTx/>
              <a:buChar char="•"/>
            </a:pPr>
            <a:r>
              <a:rPr lang="en-US" altLang="en-US" sz="1600" b="1" dirty="0">
                <a:latin typeface="Times New Roman" panose="02020603050405020304" pitchFamily="18" charset="0"/>
                <a:cs typeface="Times New Roman" panose="02020603050405020304" pitchFamily="18" charset="0"/>
              </a:rPr>
              <a:t>Extreme Gradient Boosting (</a:t>
            </a:r>
            <a:r>
              <a:rPr lang="en-US" altLang="en-US" sz="1600" b="1" dirty="0" err="1">
                <a:latin typeface="Times New Roman" panose="02020603050405020304" pitchFamily="18" charset="0"/>
                <a:cs typeface="Times New Roman" panose="02020603050405020304" pitchFamily="18" charset="0"/>
              </a:rPr>
              <a:t>XGBoost</a:t>
            </a:r>
            <a:r>
              <a:rPr lang="en-US" altLang="en-US" sz="1600" b="1" dirty="0">
                <a:latin typeface="Times New Roman" panose="02020603050405020304" pitchFamily="18" charset="0"/>
                <a:cs typeface="Times New Roman" panose="02020603050405020304" pitchFamily="18" charset="0"/>
              </a:rPr>
              <a:t>)</a:t>
            </a:r>
            <a:r>
              <a:rPr lang="en-US" altLang="en-US" sz="1600" dirty="0">
                <a:latin typeface="Times New Roman" panose="02020603050405020304" pitchFamily="18" charset="0"/>
                <a:cs typeface="Times New Roman" panose="02020603050405020304" pitchFamily="18" charset="0"/>
              </a:rPr>
              <a:t>, introduced by Chen and </a:t>
            </a:r>
            <a:r>
              <a:rPr lang="en-US" altLang="en-US" sz="1600" dirty="0" err="1">
                <a:latin typeface="Times New Roman" panose="02020603050405020304" pitchFamily="18" charset="0"/>
                <a:cs typeface="Times New Roman" panose="02020603050405020304" pitchFamily="18" charset="0"/>
              </a:rPr>
              <a:t>Guestrin</a:t>
            </a:r>
            <a:r>
              <a:rPr lang="en-US" altLang="en-US" sz="1600" dirty="0">
                <a:latin typeface="Times New Roman" panose="02020603050405020304" pitchFamily="18" charset="0"/>
                <a:cs typeface="Times New Roman" panose="02020603050405020304" pitchFamily="18" charset="0"/>
              </a:rPr>
              <a:t>, demonstrated strong performance in modeling nonlinear AQI trends and sudden pollution spikes. Hybrid models combining </a:t>
            </a:r>
            <a:r>
              <a:rPr lang="en-US" altLang="en-US" sz="1600" dirty="0" err="1">
                <a:latin typeface="Times New Roman" panose="02020603050405020304" pitchFamily="18" charset="0"/>
                <a:cs typeface="Times New Roman" panose="02020603050405020304" pitchFamily="18" charset="0"/>
              </a:rPr>
              <a:t>XGBoost</a:t>
            </a:r>
            <a:r>
              <a:rPr lang="en-US" altLang="en-US" sz="1600" dirty="0">
                <a:latin typeface="Times New Roman" panose="02020603050405020304" pitchFamily="18" charset="0"/>
                <a:cs typeface="Times New Roman" panose="02020603050405020304" pitchFamily="18" charset="0"/>
              </a:rPr>
              <a:t> with LSTM or ARIMA further reduced prediction errors.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308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EA5F0-481A-3493-42C3-1E49B23D3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80E06-D2B7-7214-8C67-F4135B19768F}"/>
              </a:ext>
            </a:extLst>
          </p:cNvPr>
          <p:cNvSpPr>
            <a:spLocks noGrp="1"/>
          </p:cNvSpPr>
          <p:nvPr>
            <p:ph type="title"/>
          </p:nvPr>
        </p:nvSpPr>
        <p:spPr>
          <a:xfrm>
            <a:off x="479982" y="213517"/>
            <a:ext cx="10515600" cy="1325563"/>
          </a:xfrm>
        </p:spPr>
        <p:txBody>
          <a:bodyPr/>
          <a:lstStyle/>
          <a:p>
            <a:r>
              <a:rPr lang="en-IN" dirty="0"/>
              <a:t>Literature Review</a:t>
            </a:r>
          </a:p>
        </p:txBody>
      </p:sp>
      <p:sp>
        <p:nvSpPr>
          <p:cNvPr id="5" name="Rectangle 2">
            <a:extLst>
              <a:ext uri="{FF2B5EF4-FFF2-40B4-BE49-F238E27FC236}">
                <a16:creationId xmlns:a16="http://schemas.microsoft.com/office/drawing/2014/main" id="{48B28DD9-01BD-0019-E6EF-97E9FCCC381A}"/>
              </a:ext>
            </a:extLst>
          </p:cNvPr>
          <p:cNvSpPr>
            <a:spLocks noGrp="1" noChangeArrowheads="1"/>
          </p:cNvSpPr>
          <p:nvPr>
            <p:ph idx="1"/>
          </p:nvPr>
        </p:nvSpPr>
        <p:spPr bwMode="auto">
          <a:xfrm>
            <a:off x="479982" y="1801372"/>
            <a:ext cx="11232038" cy="3781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1600" b="1" dirty="0">
                <a:latin typeface="Times New Roman" panose="02020603050405020304" pitchFamily="18" charset="0"/>
                <a:cs typeface="Times New Roman" panose="02020603050405020304" pitchFamily="18" charset="0"/>
              </a:rPr>
              <a:t>TimeGAN</a:t>
            </a:r>
            <a:r>
              <a:rPr lang="en-US" sz="1600" dirty="0">
                <a:latin typeface="Times New Roman" panose="02020603050405020304" pitchFamily="18" charset="0"/>
                <a:cs typeface="Times New Roman" panose="02020603050405020304" pitchFamily="18" charset="0"/>
              </a:rPr>
              <a:t>, proposed by Yoon et al. (2019), addressed missing and incomplete time-series data by learning the underlying temporal distribution and generating realistic sequences. This approach significantly improved data recovery and prediction robustness.</a:t>
            </a:r>
          </a:p>
          <a:p>
            <a:pPr>
              <a:lnSpc>
                <a:spcPct val="150000"/>
              </a:lnSpc>
            </a:pPr>
            <a:r>
              <a:rPr lang="en-US" sz="1600" b="1" dirty="0">
                <a:latin typeface="Times New Roman" panose="02020603050405020304" pitchFamily="18" charset="0"/>
                <a:cs typeface="Times New Roman" panose="02020603050405020304" pitchFamily="18" charset="0"/>
              </a:rPr>
              <a:t>Recent hybrid frameworks</a:t>
            </a:r>
            <a:r>
              <a:rPr lang="en-US" sz="1600" dirty="0">
                <a:latin typeface="Times New Roman" panose="02020603050405020304" pitchFamily="18" charset="0"/>
                <a:cs typeface="Times New Roman" panose="02020603050405020304" pitchFamily="18" charset="0"/>
              </a:rPr>
              <a:t>, such as TimeGAN combined with signal decomposition and deep learning models, achieved state-of-the-art AQI prediction performance, confirming the effectiveness of generative data recovery.</a:t>
            </a:r>
          </a:p>
          <a:p>
            <a:pPr>
              <a:lnSpc>
                <a:spcPct val="150000"/>
              </a:lnSpc>
            </a:pPr>
            <a:r>
              <a:rPr lang="en-US" sz="1600" b="1" dirty="0">
                <a:latin typeface="Times New Roman" panose="02020603050405020304" pitchFamily="18" charset="0"/>
                <a:cs typeface="Times New Roman" panose="02020603050405020304" pitchFamily="18" charset="0"/>
              </a:rPr>
              <a:t>Explainable AI (XAI)</a:t>
            </a:r>
            <a:r>
              <a:rPr lang="en-US" sz="1600" dirty="0">
                <a:latin typeface="Times New Roman" panose="02020603050405020304" pitchFamily="18" charset="0"/>
                <a:cs typeface="Times New Roman" panose="02020603050405020304" pitchFamily="18" charset="0"/>
              </a:rPr>
              <a:t> techniques like SHAP and LIME were introduced to interpret ML and ensemble AQI models, revealing key pollutant contributions and increasing transparency.</a:t>
            </a:r>
          </a:p>
          <a:p>
            <a:pPr>
              <a:lnSpc>
                <a:spcPct val="150000"/>
              </a:lnSpc>
            </a:pPr>
            <a:r>
              <a:rPr lang="en-US" sz="1600" b="1" dirty="0">
                <a:latin typeface="Times New Roman" panose="02020603050405020304" pitchFamily="18" charset="0"/>
                <a:cs typeface="Times New Roman" panose="02020603050405020304" pitchFamily="18" charset="0"/>
              </a:rPr>
              <a:t>Research gap:</a:t>
            </a:r>
            <a:r>
              <a:rPr lang="en-US" sz="1600" dirty="0">
                <a:latin typeface="Times New Roman" panose="02020603050405020304" pitchFamily="18" charset="0"/>
                <a:cs typeface="Times New Roman" panose="02020603050405020304" pitchFamily="18" charset="0"/>
              </a:rPr>
              <a:t> Existing models either focus on accuracy or interpretability, but very few integrate generative data recovery, ensemble learning, and explainability into a single AQI prediction framework.</a:t>
            </a: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3121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a:xfrm>
            <a:off x="838200" y="446147"/>
            <a:ext cx="10515600" cy="1325563"/>
          </a:xfrm>
        </p:spPr>
        <p:txBody>
          <a:bodyPr/>
          <a:lstStyle/>
          <a:p>
            <a:r>
              <a:rPr lang="en-IN" dirty="0"/>
              <a:t>Problem Statement</a:t>
            </a:r>
          </a:p>
        </p:txBody>
      </p:sp>
      <p:sp>
        <p:nvSpPr>
          <p:cNvPr id="6" name="Rectangle 3">
            <a:extLst>
              <a:ext uri="{FF2B5EF4-FFF2-40B4-BE49-F238E27FC236}">
                <a16:creationId xmlns:a16="http://schemas.microsoft.com/office/drawing/2014/main" id="{488EB240-4D34-439F-171A-0D7A2A7B595E}"/>
              </a:ext>
            </a:extLst>
          </p:cNvPr>
          <p:cNvSpPr>
            <a:spLocks noGrp="1" noChangeArrowheads="1"/>
          </p:cNvSpPr>
          <p:nvPr>
            <p:ph idx="1"/>
          </p:nvPr>
        </p:nvSpPr>
        <p:spPr bwMode="auto">
          <a:xfrm>
            <a:off x="838200" y="1825452"/>
            <a:ext cx="10759632" cy="1883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50000"/>
              </a:lnSpc>
              <a:spcBef>
                <a:spcPct val="0"/>
              </a:spcBef>
              <a:spcAft>
                <a:spcPct val="0"/>
              </a:spcAft>
              <a:buClrTx/>
              <a:buSzTx/>
              <a:buFontTx/>
              <a:buNone/>
              <a:tabLst/>
            </a:pPr>
            <a:br>
              <a:rPr kumimoji="0" lang="en-US" altLang="en-US" sz="2000" b="1" u="none" strike="noStrike" cap="none" normalizeH="0" baseline="0" dirty="0">
                <a:ln>
                  <a:noFill/>
                </a:ln>
                <a:solidFill>
                  <a:schemeClr val="tx1"/>
                </a:solidFill>
                <a:effectLst/>
                <a:cs typeface="Times New Roman" panose="02020603050405020304" pitchFamily="18" charset="0"/>
              </a:rPr>
            </a:br>
            <a:r>
              <a:rPr kumimoji="0" lang="en-US" altLang="en-US" sz="20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an accurate, robust, and interpretable Air Quality Index (AQI) prediction framework capable of handling missing data and complex temporal–nonlinear patterns in real-world air quality datasets.</a:t>
            </a:r>
          </a:p>
        </p:txBody>
      </p:sp>
    </p:spTree>
    <p:extLst>
      <p:ext uri="{BB962C8B-B14F-4D97-AF65-F5344CB8AC3E}">
        <p14:creationId xmlns:p14="http://schemas.microsoft.com/office/powerpoint/2010/main" val="2374707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5" name="Shape 3"/>
          <p:cNvSpPr/>
          <p:nvPr/>
        </p:nvSpPr>
        <p:spPr>
          <a:xfrm>
            <a:off x="390144" y="1365504"/>
            <a:ext cx="5583936" cy="1560576"/>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6" name="Shape 4"/>
          <p:cNvSpPr/>
          <p:nvPr/>
        </p:nvSpPr>
        <p:spPr>
          <a:xfrm>
            <a:off x="390144" y="1365504"/>
            <a:ext cx="877824" cy="1560576"/>
          </a:xfrm>
          <a:prstGeom prst="rect">
            <a:avLst/>
          </a:prstGeom>
          <a:solidFill>
            <a:schemeClr val="tx1"/>
          </a:solidFill>
          <a:ln w="12700">
            <a:solidFill>
              <a:srgbClr val="1B3A5C"/>
            </a:solidFill>
            <a:prstDash val="solid"/>
          </a:ln>
        </p:spPr>
      </p:sp>
      <p:sp>
        <p:nvSpPr>
          <p:cNvPr id="7" name="Text 5"/>
          <p:cNvSpPr/>
          <p:nvPr/>
        </p:nvSpPr>
        <p:spPr>
          <a:xfrm>
            <a:off x="390144" y="1365504"/>
            <a:ext cx="877824" cy="1560576"/>
          </a:xfrm>
          <a:prstGeom prst="rect">
            <a:avLst/>
          </a:prstGeom>
          <a:noFill/>
          <a:ln/>
        </p:spPr>
        <p:txBody>
          <a:bodyPr wrap="square" lIns="0" tIns="0" rIns="0" bIns="0" rtlCol="0" anchor="ctr"/>
          <a:lstStyle/>
          <a:p>
            <a:pPr algn="ctr" defTabSz="1219170"/>
            <a:r>
              <a:rPr lang="en-US" sz="2933" b="1" dirty="0">
                <a:solidFill>
                  <a:srgbClr val="D6F0F0"/>
                </a:solidFill>
                <a:latin typeface="Calibri" pitchFamily="34" charset="0"/>
                <a:ea typeface="Calibri" pitchFamily="34" charset="-122"/>
                <a:cs typeface="Calibri" pitchFamily="34" charset="-120"/>
              </a:rPr>
              <a:t>01</a:t>
            </a:r>
            <a:endParaRPr lang="en-US" sz="2933" dirty="0">
              <a:solidFill>
                <a:prstClr val="black"/>
              </a:solidFill>
              <a:latin typeface="Calibri" panose="020F0502020204030204"/>
            </a:endParaRPr>
          </a:p>
        </p:txBody>
      </p:sp>
      <p:sp>
        <p:nvSpPr>
          <p:cNvPr id="8" name="Text 6"/>
          <p:cNvSpPr/>
          <p:nvPr/>
        </p:nvSpPr>
        <p:spPr>
          <a:xfrm>
            <a:off x="1389888" y="1487424"/>
            <a:ext cx="4450080" cy="414528"/>
          </a:xfrm>
          <a:prstGeom prst="rect">
            <a:avLst/>
          </a:prstGeom>
          <a:noFill/>
          <a:ln/>
        </p:spPr>
        <p:txBody>
          <a:bodyPr wrap="square" lIns="0" tIns="0" rIns="0" bIns="0" rtlCol="0" anchor="ctr"/>
          <a:lstStyle/>
          <a:p>
            <a:pPr defTabSz="1219170"/>
            <a:r>
              <a:rPr lang="en-US" sz="1733" b="1" dirty="0">
                <a:solidFill>
                  <a:srgbClr val="0D7377"/>
                </a:solidFill>
                <a:latin typeface="Calibri" pitchFamily="34" charset="0"/>
                <a:ea typeface="Calibri" pitchFamily="34" charset="-122"/>
                <a:cs typeface="Calibri" pitchFamily="34" charset="-120"/>
              </a:rPr>
              <a:t>Missing Data Handling</a:t>
            </a:r>
            <a:endParaRPr lang="en-US" sz="1733" dirty="0">
              <a:solidFill>
                <a:prstClr val="black"/>
              </a:solidFill>
              <a:latin typeface="Calibri" panose="020F0502020204030204"/>
            </a:endParaRPr>
          </a:p>
        </p:txBody>
      </p:sp>
      <p:sp>
        <p:nvSpPr>
          <p:cNvPr id="9" name="Text 7"/>
          <p:cNvSpPr/>
          <p:nvPr/>
        </p:nvSpPr>
        <p:spPr>
          <a:xfrm>
            <a:off x="1389888" y="1877568"/>
            <a:ext cx="4450080" cy="926592"/>
          </a:xfrm>
          <a:prstGeom prst="rect">
            <a:avLst/>
          </a:prstGeom>
          <a:noFill/>
          <a:ln/>
        </p:spPr>
        <p:txBody>
          <a:bodyPr wrap="square" rtlCol="0" anchor="t"/>
          <a:lstStyle/>
          <a:p>
            <a:pPr defTabSz="1219170"/>
            <a:r>
              <a:rPr lang="en-US" sz="1600" dirty="0">
                <a:solidFill>
                  <a:srgbClr val="0D1B2A"/>
                </a:solidFill>
                <a:latin typeface="Calibri" pitchFamily="34" charset="0"/>
                <a:ea typeface="Calibri" pitchFamily="34" charset="-122"/>
                <a:cs typeface="Calibri" pitchFamily="34" charset="-120"/>
              </a:rPr>
              <a:t>TimeGAN-inspired imputation preserving temporal distribution (up to 54% missingness)</a:t>
            </a:r>
            <a:endParaRPr lang="en-US" sz="1600" dirty="0">
              <a:solidFill>
                <a:prstClr val="black"/>
              </a:solidFill>
              <a:latin typeface="Calibri" panose="020F0502020204030204"/>
            </a:endParaRPr>
          </a:p>
        </p:txBody>
      </p:sp>
      <p:sp>
        <p:nvSpPr>
          <p:cNvPr id="10" name="Shape 8"/>
          <p:cNvSpPr/>
          <p:nvPr/>
        </p:nvSpPr>
        <p:spPr>
          <a:xfrm>
            <a:off x="6242304" y="1365504"/>
            <a:ext cx="5583936" cy="1560576"/>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11" name="Shape 9"/>
          <p:cNvSpPr/>
          <p:nvPr/>
        </p:nvSpPr>
        <p:spPr>
          <a:xfrm>
            <a:off x="6242304" y="1365504"/>
            <a:ext cx="877824" cy="1560576"/>
          </a:xfrm>
          <a:prstGeom prst="rect">
            <a:avLst/>
          </a:prstGeom>
          <a:solidFill>
            <a:schemeClr val="tx1"/>
          </a:solidFill>
          <a:ln w="12700">
            <a:solidFill>
              <a:srgbClr val="1B3A5C"/>
            </a:solidFill>
            <a:prstDash val="solid"/>
          </a:ln>
        </p:spPr>
      </p:sp>
      <p:sp>
        <p:nvSpPr>
          <p:cNvPr id="12" name="Text 10"/>
          <p:cNvSpPr/>
          <p:nvPr/>
        </p:nvSpPr>
        <p:spPr>
          <a:xfrm>
            <a:off x="6242304" y="1365504"/>
            <a:ext cx="877824" cy="1560576"/>
          </a:xfrm>
          <a:prstGeom prst="rect">
            <a:avLst/>
          </a:prstGeom>
          <a:noFill/>
          <a:ln/>
        </p:spPr>
        <p:txBody>
          <a:bodyPr wrap="square" lIns="0" tIns="0" rIns="0" bIns="0" rtlCol="0" anchor="ctr"/>
          <a:lstStyle/>
          <a:p>
            <a:pPr algn="ctr" defTabSz="1219170"/>
            <a:r>
              <a:rPr lang="en-US" sz="2933" b="1" dirty="0">
                <a:solidFill>
                  <a:srgbClr val="D6F0F0"/>
                </a:solidFill>
                <a:latin typeface="Calibri" pitchFamily="34" charset="0"/>
                <a:ea typeface="Calibri" pitchFamily="34" charset="-122"/>
                <a:cs typeface="Calibri" pitchFamily="34" charset="-120"/>
              </a:rPr>
              <a:t>02</a:t>
            </a:r>
            <a:endParaRPr lang="en-US" sz="2933" dirty="0">
              <a:solidFill>
                <a:prstClr val="black"/>
              </a:solidFill>
              <a:latin typeface="Calibri" panose="020F0502020204030204"/>
            </a:endParaRPr>
          </a:p>
        </p:txBody>
      </p:sp>
      <p:sp>
        <p:nvSpPr>
          <p:cNvPr id="13" name="Text 11"/>
          <p:cNvSpPr/>
          <p:nvPr/>
        </p:nvSpPr>
        <p:spPr>
          <a:xfrm>
            <a:off x="7242048" y="1487424"/>
            <a:ext cx="4450080" cy="414528"/>
          </a:xfrm>
          <a:prstGeom prst="rect">
            <a:avLst/>
          </a:prstGeom>
          <a:noFill/>
          <a:ln/>
        </p:spPr>
        <p:txBody>
          <a:bodyPr wrap="square" lIns="0" tIns="0" rIns="0" bIns="0" rtlCol="0" anchor="ctr"/>
          <a:lstStyle/>
          <a:p>
            <a:pPr defTabSz="1219170"/>
            <a:r>
              <a:rPr lang="en-US" sz="1733" b="1" dirty="0">
                <a:solidFill>
                  <a:srgbClr val="0D7377"/>
                </a:solidFill>
                <a:latin typeface="Calibri" pitchFamily="34" charset="0"/>
                <a:ea typeface="Calibri" pitchFamily="34" charset="-122"/>
                <a:cs typeface="Calibri" pitchFamily="34" charset="-120"/>
              </a:rPr>
              <a:t>Temporal Modelling</a:t>
            </a:r>
            <a:endParaRPr lang="en-US" sz="1733" dirty="0">
              <a:solidFill>
                <a:prstClr val="black"/>
              </a:solidFill>
              <a:latin typeface="Calibri" panose="020F0502020204030204"/>
            </a:endParaRPr>
          </a:p>
        </p:txBody>
      </p:sp>
      <p:sp>
        <p:nvSpPr>
          <p:cNvPr id="14" name="Text 12"/>
          <p:cNvSpPr/>
          <p:nvPr/>
        </p:nvSpPr>
        <p:spPr>
          <a:xfrm>
            <a:off x="7242048" y="1877568"/>
            <a:ext cx="4450080" cy="926592"/>
          </a:xfrm>
          <a:prstGeom prst="rect">
            <a:avLst/>
          </a:prstGeom>
          <a:noFill/>
          <a:ln/>
        </p:spPr>
        <p:txBody>
          <a:bodyPr wrap="square" rtlCol="0" anchor="t"/>
          <a:lstStyle/>
          <a:p>
            <a:pPr defTabSz="1219170"/>
            <a:r>
              <a:rPr lang="en-US" sz="1600" dirty="0">
                <a:solidFill>
                  <a:srgbClr val="0D1B2A"/>
                </a:solidFill>
                <a:latin typeface="Calibri" pitchFamily="34" charset="0"/>
                <a:ea typeface="Calibri" pitchFamily="34" charset="-122"/>
                <a:cs typeface="Calibri" pitchFamily="34" charset="-120"/>
              </a:rPr>
              <a:t>LSTM captures long-range seasonal AQI dependencies via gated memory cells</a:t>
            </a:r>
            <a:endParaRPr lang="en-US" sz="1600" dirty="0">
              <a:solidFill>
                <a:prstClr val="black"/>
              </a:solidFill>
              <a:latin typeface="Calibri" panose="020F0502020204030204"/>
            </a:endParaRPr>
          </a:p>
        </p:txBody>
      </p:sp>
      <p:sp>
        <p:nvSpPr>
          <p:cNvPr id="15" name="Shape 13"/>
          <p:cNvSpPr/>
          <p:nvPr/>
        </p:nvSpPr>
        <p:spPr>
          <a:xfrm>
            <a:off x="390144" y="3145536"/>
            <a:ext cx="5583936" cy="1560576"/>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16" name="Shape 14"/>
          <p:cNvSpPr/>
          <p:nvPr/>
        </p:nvSpPr>
        <p:spPr>
          <a:xfrm>
            <a:off x="390144" y="3145536"/>
            <a:ext cx="877824" cy="1560576"/>
          </a:xfrm>
          <a:prstGeom prst="rect">
            <a:avLst/>
          </a:prstGeom>
          <a:solidFill>
            <a:schemeClr val="tx1"/>
          </a:solidFill>
          <a:ln w="12700">
            <a:solidFill>
              <a:srgbClr val="1B3A5C"/>
            </a:solidFill>
            <a:prstDash val="solid"/>
          </a:ln>
        </p:spPr>
      </p:sp>
      <p:sp>
        <p:nvSpPr>
          <p:cNvPr id="17" name="Text 15"/>
          <p:cNvSpPr/>
          <p:nvPr/>
        </p:nvSpPr>
        <p:spPr>
          <a:xfrm>
            <a:off x="390144" y="3145536"/>
            <a:ext cx="877824" cy="1560576"/>
          </a:xfrm>
          <a:prstGeom prst="rect">
            <a:avLst/>
          </a:prstGeom>
          <a:noFill/>
          <a:ln/>
        </p:spPr>
        <p:txBody>
          <a:bodyPr wrap="square" lIns="0" tIns="0" rIns="0" bIns="0" rtlCol="0" anchor="ctr"/>
          <a:lstStyle/>
          <a:p>
            <a:pPr algn="ctr" defTabSz="1219170"/>
            <a:r>
              <a:rPr lang="en-US" sz="2933" b="1" dirty="0">
                <a:solidFill>
                  <a:srgbClr val="D6F0F0"/>
                </a:solidFill>
                <a:latin typeface="Calibri" pitchFamily="34" charset="0"/>
                <a:ea typeface="Calibri" pitchFamily="34" charset="-122"/>
                <a:cs typeface="Calibri" pitchFamily="34" charset="-120"/>
              </a:rPr>
              <a:t>03</a:t>
            </a:r>
            <a:endParaRPr lang="en-US" sz="2933" dirty="0">
              <a:solidFill>
                <a:prstClr val="black"/>
              </a:solidFill>
              <a:latin typeface="Calibri" panose="020F0502020204030204"/>
            </a:endParaRPr>
          </a:p>
        </p:txBody>
      </p:sp>
      <p:sp>
        <p:nvSpPr>
          <p:cNvPr id="18" name="Text 16"/>
          <p:cNvSpPr/>
          <p:nvPr/>
        </p:nvSpPr>
        <p:spPr>
          <a:xfrm>
            <a:off x="1389888" y="3267456"/>
            <a:ext cx="4450080" cy="414528"/>
          </a:xfrm>
          <a:prstGeom prst="rect">
            <a:avLst/>
          </a:prstGeom>
          <a:noFill/>
          <a:ln/>
        </p:spPr>
        <p:txBody>
          <a:bodyPr wrap="square" lIns="0" tIns="0" rIns="0" bIns="0" rtlCol="0" anchor="ctr"/>
          <a:lstStyle/>
          <a:p>
            <a:pPr defTabSz="1219170"/>
            <a:r>
              <a:rPr lang="en-US" sz="1733" b="1" dirty="0">
                <a:solidFill>
                  <a:srgbClr val="0D7377"/>
                </a:solidFill>
                <a:latin typeface="Calibri" pitchFamily="34" charset="0"/>
                <a:ea typeface="Calibri" pitchFamily="34" charset="-122"/>
                <a:cs typeface="Calibri" pitchFamily="34" charset="-120"/>
              </a:rPr>
              <a:t>Nonlinear Pattern Learning</a:t>
            </a:r>
            <a:endParaRPr lang="en-US" sz="1733" dirty="0">
              <a:solidFill>
                <a:prstClr val="black"/>
              </a:solidFill>
              <a:latin typeface="Calibri" panose="020F0502020204030204"/>
            </a:endParaRPr>
          </a:p>
        </p:txBody>
      </p:sp>
      <p:sp>
        <p:nvSpPr>
          <p:cNvPr id="19" name="Text 17"/>
          <p:cNvSpPr/>
          <p:nvPr/>
        </p:nvSpPr>
        <p:spPr>
          <a:xfrm>
            <a:off x="1389888" y="3657600"/>
            <a:ext cx="4450080" cy="926592"/>
          </a:xfrm>
          <a:prstGeom prst="rect">
            <a:avLst/>
          </a:prstGeom>
          <a:noFill/>
          <a:ln/>
        </p:spPr>
        <p:txBody>
          <a:bodyPr wrap="square" rtlCol="0" anchor="t"/>
          <a:lstStyle/>
          <a:p>
            <a:pPr defTabSz="1219170"/>
            <a:r>
              <a:rPr lang="en-US" sz="1600" dirty="0">
                <a:solidFill>
                  <a:srgbClr val="0D1B2A"/>
                </a:solidFill>
                <a:latin typeface="Calibri" pitchFamily="34" charset="0"/>
                <a:ea typeface="Calibri" pitchFamily="34" charset="-122"/>
                <a:cs typeface="Calibri" pitchFamily="34" charset="-120"/>
              </a:rPr>
              <a:t>XGBoost models complex interactions between SO₂, NO₂, RSPM, SPM features</a:t>
            </a:r>
            <a:endParaRPr lang="en-US" sz="1600" dirty="0">
              <a:solidFill>
                <a:prstClr val="black"/>
              </a:solidFill>
              <a:latin typeface="Calibri" panose="020F0502020204030204"/>
            </a:endParaRPr>
          </a:p>
        </p:txBody>
      </p:sp>
      <p:sp>
        <p:nvSpPr>
          <p:cNvPr id="20" name="Shape 18"/>
          <p:cNvSpPr/>
          <p:nvPr/>
        </p:nvSpPr>
        <p:spPr>
          <a:xfrm>
            <a:off x="6242304" y="3145536"/>
            <a:ext cx="5583936" cy="1560576"/>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21" name="Shape 19"/>
          <p:cNvSpPr/>
          <p:nvPr/>
        </p:nvSpPr>
        <p:spPr>
          <a:xfrm>
            <a:off x="6242304" y="3145536"/>
            <a:ext cx="877824" cy="1560576"/>
          </a:xfrm>
          <a:prstGeom prst="rect">
            <a:avLst/>
          </a:prstGeom>
          <a:solidFill>
            <a:schemeClr val="tx1"/>
          </a:solidFill>
          <a:ln w="12700">
            <a:solidFill>
              <a:srgbClr val="1B3A5C"/>
            </a:solidFill>
            <a:prstDash val="solid"/>
          </a:ln>
        </p:spPr>
      </p:sp>
      <p:sp>
        <p:nvSpPr>
          <p:cNvPr id="22" name="Text 20"/>
          <p:cNvSpPr/>
          <p:nvPr/>
        </p:nvSpPr>
        <p:spPr>
          <a:xfrm>
            <a:off x="6242304" y="3145536"/>
            <a:ext cx="877824" cy="1560576"/>
          </a:xfrm>
          <a:prstGeom prst="rect">
            <a:avLst/>
          </a:prstGeom>
          <a:noFill/>
          <a:ln/>
        </p:spPr>
        <p:txBody>
          <a:bodyPr wrap="square" lIns="0" tIns="0" rIns="0" bIns="0" rtlCol="0" anchor="ctr"/>
          <a:lstStyle/>
          <a:p>
            <a:pPr algn="ctr" defTabSz="1219170"/>
            <a:r>
              <a:rPr lang="en-US" sz="2933" b="1" dirty="0">
                <a:solidFill>
                  <a:srgbClr val="D6F0F0"/>
                </a:solidFill>
                <a:latin typeface="Calibri" pitchFamily="34" charset="0"/>
                <a:ea typeface="Calibri" pitchFamily="34" charset="-122"/>
                <a:cs typeface="Calibri" pitchFamily="34" charset="-120"/>
              </a:rPr>
              <a:t>04</a:t>
            </a:r>
            <a:endParaRPr lang="en-US" sz="2933" dirty="0">
              <a:solidFill>
                <a:prstClr val="black"/>
              </a:solidFill>
              <a:latin typeface="Calibri" panose="020F0502020204030204"/>
            </a:endParaRPr>
          </a:p>
        </p:txBody>
      </p:sp>
      <p:sp>
        <p:nvSpPr>
          <p:cNvPr id="23" name="Text 21"/>
          <p:cNvSpPr/>
          <p:nvPr/>
        </p:nvSpPr>
        <p:spPr>
          <a:xfrm>
            <a:off x="7242048" y="3267456"/>
            <a:ext cx="4450080" cy="414528"/>
          </a:xfrm>
          <a:prstGeom prst="rect">
            <a:avLst/>
          </a:prstGeom>
          <a:noFill/>
          <a:ln/>
        </p:spPr>
        <p:txBody>
          <a:bodyPr wrap="square" lIns="0" tIns="0" rIns="0" bIns="0" rtlCol="0" anchor="ctr"/>
          <a:lstStyle/>
          <a:p>
            <a:pPr defTabSz="1219170"/>
            <a:r>
              <a:rPr lang="en-US" sz="1733" b="1" dirty="0">
                <a:solidFill>
                  <a:srgbClr val="0D7377"/>
                </a:solidFill>
                <a:latin typeface="Calibri" pitchFamily="34" charset="0"/>
                <a:ea typeface="Calibri" pitchFamily="34" charset="-122"/>
                <a:cs typeface="Calibri" pitchFamily="34" charset="-120"/>
              </a:rPr>
              <a:t>Ensemble Fusion</a:t>
            </a:r>
            <a:endParaRPr lang="en-US" sz="1733" dirty="0">
              <a:solidFill>
                <a:prstClr val="black"/>
              </a:solidFill>
              <a:latin typeface="Calibri" panose="020F0502020204030204"/>
            </a:endParaRPr>
          </a:p>
        </p:txBody>
      </p:sp>
      <p:sp>
        <p:nvSpPr>
          <p:cNvPr id="24" name="Text 22"/>
          <p:cNvSpPr/>
          <p:nvPr/>
        </p:nvSpPr>
        <p:spPr>
          <a:xfrm>
            <a:off x="7242048" y="3657600"/>
            <a:ext cx="4450080" cy="926592"/>
          </a:xfrm>
          <a:prstGeom prst="rect">
            <a:avLst/>
          </a:prstGeom>
          <a:noFill/>
          <a:ln/>
        </p:spPr>
        <p:txBody>
          <a:bodyPr wrap="square" rtlCol="0" anchor="t"/>
          <a:lstStyle/>
          <a:p>
            <a:pPr defTabSz="1219170"/>
            <a:r>
              <a:rPr lang="en-US" sz="1600" dirty="0">
                <a:solidFill>
                  <a:srgbClr val="0D1B2A"/>
                </a:solidFill>
                <a:latin typeface="Calibri" pitchFamily="34" charset="0"/>
                <a:ea typeface="Calibri" pitchFamily="34" charset="-122"/>
                <a:cs typeface="Calibri" pitchFamily="34" charset="-120"/>
              </a:rPr>
              <a:t>Dynamic R²-weighted ensemble combines both models — no manual tuning required</a:t>
            </a:r>
            <a:endParaRPr lang="en-US" sz="1600" dirty="0">
              <a:solidFill>
                <a:prstClr val="black"/>
              </a:solidFill>
              <a:latin typeface="Calibri" panose="020F0502020204030204"/>
            </a:endParaRPr>
          </a:p>
        </p:txBody>
      </p:sp>
      <p:sp>
        <p:nvSpPr>
          <p:cNvPr id="25" name="Shape 23"/>
          <p:cNvSpPr/>
          <p:nvPr/>
        </p:nvSpPr>
        <p:spPr>
          <a:xfrm>
            <a:off x="390144" y="4925568"/>
            <a:ext cx="5583936" cy="1560576"/>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26" name="Shape 24"/>
          <p:cNvSpPr/>
          <p:nvPr/>
        </p:nvSpPr>
        <p:spPr>
          <a:xfrm>
            <a:off x="390144" y="4925568"/>
            <a:ext cx="877824" cy="1560576"/>
          </a:xfrm>
          <a:prstGeom prst="rect">
            <a:avLst/>
          </a:prstGeom>
          <a:solidFill>
            <a:schemeClr val="tx1"/>
          </a:solidFill>
          <a:ln w="12700">
            <a:solidFill>
              <a:srgbClr val="1B3A5C"/>
            </a:solidFill>
            <a:prstDash val="solid"/>
          </a:ln>
        </p:spPr>
      </p:sp>
      <p:sp>
        <p:nvSpPr>
          <p:cNvPr id="27" name="Text 25"/>
          <p:cNvSpPr/>
          <p:nvPr/>
        </p:nvSpPr>
        <p:spPr>
          <a:xfrm>
            <a:off x="390144" y="4925568"/>
            <a:ext cx="877824" cy="1560576"/>
          </a:xfrm>
          <a:prstGeom prst="rect">
            <a:avLst/>
          </a:prstGeom>
          <a:noFill/>
          <a:ln/>
        </p:spPr>
        <p:txBody>
          <a:bodyPr wrap="square" lIns="0" tIns="0" rIns="0" bIns="0" rtlCol="0" anchor="ctr"/>
          <a:lstStyle/>
          <a:p>
            <a:pPr algn="ctr" defTabSz="1219170"/>
            <a:r>
              <a:rPr lang="en-US" sz="2933" b="1" dirty="0">
                <a:solidFill>
                  <a:srgbClr val="D6F0F0"/>
                </a:solidFill>
                <a:latin typeface="Calibri" pitchFamily="34" charset="0"/>
                <a:ea typeface="Calibri" pitchFamily="34" charset="-122"/>
                <a:cs typeface="Calibri" pitchFamily="34" charset="-120"/>
              </a:rPr>
              <a:t>05</a:t>
            </a:r>
            <a:endParaRPr lang="en-US" sz="2933" dirty="0">
              <a:solidFill>
                <a:prstClr val="black"/>
              </a:solidFill>
              <a:latin typeface="Calibri" panose="020F0502020204030204"/>
            </a:endParaRPr>
          </a:p>
        </p:txBody>
      </p:sp>
      <p:sp>
        <p:nvSpPr>
          <p:cNvPr id="28" name="Text 26"/>
          <p:cNvSpPr/>
          <p:nvPr/>
        </p:nvSpPr>
        <p:spPr>
          <a:xfrm>
            <a:off x="1389888" y="5047488"/>
            <a:ext cx="4450080" cy="414528"/>
          </a:xfrm>
          <a:prstGeom prst="rect">
            <a:avLst/>
          </a:prstGeom>
          <a:noFill/>
          <a:ln/>
        </p:spPr>
        <p:txBody>
          <a:bodyPr wrap="square" lIns="0" tIns="0" rIns="0" bIns="0" rtlCol="0" anchor="ctr"/>
          <a:lstStyle/>
          <a:p>
            <a:pPr defTabSz="1219170"/>
            <a:r>
              <a:rPr lang="en-US" sz="1733" b="1" dirty="0">
                <a:solidFill>
                  <a:srgbClr val="0D7377"/>
                </a:solidFill>
                <a:latin typeface="Calibri" pitchFamily="34" charset="0"/>
                <a:ea typeface="Calibri" pitchFamily="34" charset="-122"/>
                <a:cs typeface="Calibri" pitchFamily="34" charset="-120"/>
              </a:rPr>
              <a:t>Explainability (XAI)</a:t>
            </a:r>
            <a:endParaRPr lang="en-US" sz="1733" dirty="0">
              <a:solidFill>
                <a:prstClr val="black"/>
              </a:solidFill>
              <a:latin typeface="Calibri" panose="020F0502020204030204"/>
            </a:endParaRPr>
          </a:p>
        </p:txBody>
      </p:sp>
      <p:sp>
        <p:nvSpPr>
          <p:cNvPr id="29" name="Text 27"/>
          <p:cNvSpPr/>
          <p:nvPr/>
        </p:nvSpPr>
        <p:spPr>
          <a:xfrm>
            <a:off x="1389888" y="5437632"/>
            <a:ext cx="4450080" cy="926592"/>
          </a:xfrm>
          <a:prstGeom prst="rect">
            <a:avLst/>
          </a:prstGeom>
          <a:noFill/>
          <a:ln/>
        </p:spPr>
        <p:txBody>
          <a:bodyPr wrap="square" rtlCol="0" anchor="t"/>
          <a:lstStyle/>
          <a:p>
            <a:pPr defTabSz="1219170"/>
            <a:r>
              <a:rPr lang="en-US" sz="1600" dirty="0">
                <a:solidFill>
                  <a:srgbClr val="0D1B2A"/>
                </a:solidFill>
                <a:latin typeface="Calibri" pitchFamily="34" charset="0"/>
                <a:ea typeface="Calibri" pitchFamily="34" charset="-122"/>
                <a:cs typeface="Calibri" pitchFamily="34" charset="-120"/>
              </a:rPr>
              <a:t>SHAP for XGBoost + Gradient Sensitivity for LSTM — transparent predictions</a:t>
            </a:r>
            <a:endParaRPr lang="en-US" sz="1600" dirty="0">
              <a:solidFill>
                <a:prstClr val="black"/>
              </a:solidFill>
              <a:latin typeface="Calibri" panose="020F0502020204030204"/>
            </a:endParaRPr>
          </a:p>
        </p:txBody>
      </p:sp>
      <p:sp>
        <p:nvSpPr>
          <p:cNvPr id="30" name="Shape 28"/>
          <p:cNvSpPr/>
          <p:nvPr/>
        </p:nvSpPr>
        <p:spPr>
          <a:xfrm>
            <a:off x="6242304" y="4925568"/>
            <a:ext cx="5583936" cy="1560576"/>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31" name="Shape 29"/>
          <p:cNvSpPr/>
          <p:nvPr/>
        </p:nvSpPr>
        <p:spPr>
          <a:xfrm>
            <a:off x="6242304" y="4925568"/>
            <a:ext cx="877824" cy="1560576"/>
          </a:xfrm>
          <a:prstGeom prst="rect">
            <a:avLst/>
          </a:prstGeom>
          <a:solidFill>
            <a:schemeClr val="tx1"/>
          </a:solidFill>
          <a:ln w="12700">
            <a:solidFill>
              <a:srgbClr val="1B3A5C"/>
            </a:solidFill>
            <a:prstDash val="solid"/>
          </a:ln>
        </p:spPr>
      </p:sp>
      <p:sp>
        <p:nvSpPr>
          <p:cNvPr id="32" name="Text 30"/>
          <p:cNvSpPr/>
          <p:nvPr/>
        </p:nvSpPr>
        <p:spPr>
          <a:xfrm>
            <a:off x="6242304" y="4925568"/>
            <a:ext cx="877824" cy="1560576"/>
          </a:xfrm>
          <a:prstGeom prst="rect">
            <a:avLst/>
          </a:prstGeom>
          <a:noFill/>
          <a:ln/>
        </p:spPr>
        <p:txBody>
          <a:bodyPr wrap="square" lIns="0" tIns="0" rIns="0" bIns="0" rtlCol="0" anchor="ctr"/>
          <a:lstStyle/>
          <a:p>
            <a:pPr algn="ctr" defTabSz="1219170"/>
            <a:r>
              <a:rPr lang="en-US" sz="2933" b="1" dirty="0">
                <a:solidFill>
                  <a:srgbClr val="D6F0F0"/>
                </a:solidFill>
                <a:latin typeface="Calibri" pitchFamily="34" charset="0"/>
                <a:ea typeface="Calibri" pitchFamily="34" charset="-122"/>
                <a:cs typeface="Calibri" pitchFamily="34" charset="-120"/>
              </a:rPr>
              <a:t>06</a:t>
            </a:r>
            <a:endParaRPr lang="en-US" sz="2933" dirty="0">
              <a:solidFill>
                <a:prstClr val="black"/>
              </a:solidFill>
              <a:latin typeface="Calibri" panose="020F0502020204030204"/>
            </a:endParaRPr>
          </a:p>
        </p:txBody>
      </p:sp>
      <p:sp>
        <p:nvSpPr>
          <p:cNvPr id="33" name="Text 31"/>
          <p:cNvSpPr/>
          <p:nvPr/>
        </p:nvSpPr>
        <p:spPr>
          <a:xfrm>
            <a:off x="7242048" y="5047488"/>
            <a:ext cx="4450080" cy="414528"/>
          </a:xfrm>
          <a:prstGeom prst="rect">
            <a:avLst/>
          </a:prstGeom>
          <a:noFill/>
          <a:ln/>
        </p:spPr>
        <p:txBody>
          <a:bodyPr wrap="square" lIns="0" tIns="0" rIns="0" bIns="0" rtlCol="0" anchor="ctr"/>
          <a:lstStyle/>
          <a:p>
            <a:pPr defTabSz="1219170"/>
            <a:r>
              <a:rPr lang="en-US" sz="1733" b="1" dirty="0">
                <a:solidFill>
                  <a:srgbClr val="0D7377"/>
                </a:solidFill>
                <a:latin typeface="Calibri" pitchFamily="34" charset="0"/>
                <a:ea typeface="Calibri" pitchFamily="34" charset="-122"/>
                <a:cs typeface="Calibri" pitchFamily="34" charset="-120"/>
              </a:rPr>
              <a:t>XAI-Enhanced Performance</a:t>
            </a:r>
            <a:endParaRPr lang="en-US" sz="1733" dirty="0">
              <a:solidFill>
                <a:prstClr val="black"/>
              </a:solidFill>
              <a:latin typeface="Calibri" panose="020F0502020204030204"/>
            </a:endParaRPr>
          </a:p>
        </p:txBody>
      </p:sp>
      <p:sp>
        <p:nvSpPr>
          <p:cNvPr id="34" name="Text 32"/>
          <p:cNvSpPr/>
          <p:nvPr/>
        </p:nvSpPr>
        <p:spPr>
          <a:xfrm>
            <a:off x="7242048" y="5437632"/>
            <a:ext cx="4450080" cy="926592"/>
          </a:xfrm>
          <a:prstGeom prst="rect">
            <a:avLst/>
          </a:prstGeom>
          <a:noFill/>
          <a:ln/>
        </p:spPr>
        <p:txBody>
          <a:bodyPr wrap="square" rtlCol="0" anchor="t"/>
          <a:lstStyle/>
          <a:p>
            <a:pPr defTabSz="1219170"/>
            <a:r>
              <a:rPr lang="en-US" sz="1600" dirty="0">
                <a:solidFill>
                  <a:srgbClr val="0D1B2A"/>
                </a:solidFill>
                <a:latin typeface="Calibri" pitchFamily="34" charset="0"/>
                <a:ea typeface="Calibri" pitchFamily="34" charset="-122"/>
                <a:cs typeface="Calibri" pitchFamily="34" charset="-120"/>
              </a:rPr>
              <a:t>Top 10 SHAP features retrain both sub-models — 54.7% RMSE improvement</a:t>
            </a:r>
            <a:endParaRPr lang="en-US" sz="1600" dirty="0">
              <a:solidFill>
                <a:prstClr val="black"/>
              </a:solidFill>
              <a:latin typeface="Calibri" panose="020F0502020204030204"/>
            </a:endParaRPr>
          </a:p>
        </p:txBody>
      </p:sp>
      <p:sp>
        <p:nvSpPr>
          <p:cNvPr id="35" name="Title 1">
            <a:extLst>
              <a:ext uri="{FF2B5EF4-FFF2-40B4-BE49-F238E27FC236}">
                <a16:creationId xmlns:a16="http://schemas.microsoft.com/office/drawing/2014/main" id="{DAC66CBD-FC59-BE59-2070-B5315E2C8921}"/>
              </a:ext>
            </a:extLst>
          </p:cNvPr>
          <p:cNvSpPr txBox="1">
            <a:spLocks/>
          </p:cNvSpPr>
          <p:nvPr/>
        </p:nvSpPr>
        <p:spPr>
          <a:xfrm>
            <a:off x="838200" y="365125"/>
            <a:ext cx="10515600" cy="1325563"/>
          </a:xfrm>
          <a:prstGeom prst="rect">
            <a:avLst/>
          </a:prstGeom>
        </p:spPr>
        <p:txBody>
          <a:bodyPr/>
          <a:lstStyle>
            <a:lvl1pPr algn="ctr" defTabSz="1219170" rtl="0" eaLnBrk="1" latinLnBrk="0" hangingPunct="1">
              <a:spcBef>
                <a:spcPct val="0"/>
              </a:spcBef>
              <a:buNone/>
              <a:defRPr sz="5867" kern="1200">
                <a:solidFill>
                  <a:schemeClr val="tx1"/>
                </a:solidFill>
                <a:latin typeface="+mj-lt"/>
                <a:ea typeface="+mj-ea"/>
                <a:cs typeface="+mj-cs"/>
              </a:defRPr>
            </a:lvl1pPr>
          </a:lstStyle>
          <a:p>
            <a:pPr algn="l"/>
            <a:r>
              <a:rPr lang="en-IN" sz="4400" b="1" dirty="0">
                <a:latin typeface="Angsana New" panose="02020603050405020304" pitchFamily="18" charset="-34"/>
                <a:cs typeface="Angsana New" panose="02020603050405020304" pitchFamily="18" charset="-34"/>
              </a:rPr>
              <a:t>Objectives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a:xfrm>
            <a:off x="630811" y="174396"/>
            <a:ext cx="10515600" cy="1325563"/>
          </a:xfrm>
        </p:spPr>
        <p:txBody>
          <a:bodyPr/>
          <a:lstStyle/>
          <a:p>
            <a:r>
              <a:rPr lang="en-IN" dirty="0"/>
              <a:t>Proposed Methodology</a:t>
            </a:r>
          </a:p>
        </p:txBody>
      </p:sp>
      <p:sp>
        <p:nvSpPr>
          <p:cNvPr id="6" name="Rectangle 2">
            <a:extLst>
              <a:ext uri="{FF2B5EF4-FFF2-40B4-BE49-F238E27FC236}">
                <a16:creationId xmlns:a16="http://schemas.microsoft.com/office/drawing/2014/main" id="{9709FFA1-3B4A-A607-6AD4-65869017D518}"/>
              </a:ext>
            </a:extLst>
          </p:cNvPr>
          <p:cNvSpPr>
            <a:spLocks noChangeArrowheads="1"/>
          </p:cNvSpPr>
          <p:nvPr/>
        </p:nvSpPr>
        <p:spPr bwMode="auto">
          <a:xfrm>
            <a:off x="486693" y="965355"/>
            <a:ext cx="11410445" cy="580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framework incorporates a TimeGAN-based imputation mechanism to handle missing and irregular time-series data, along with two complementary models</a:t>
            </a:r>
            <a:r>
              <a:rPr lang="en-US" altLang="en-US" sz="1600" dirty="0">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LSTM for capturing temporal dependencies and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modeling nonlinear relationships between features.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approach begins with collecting real-world AQI data, including pollutant concentrations such as PM2.5, PM10, NO₂, SO₂, and O₃, along with relevant meteorological parameters like temperature and humidity.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preprocessing is performed to handle missing values, remove noise and inconsistencies, normalize feature ranges.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TimeGAN-inspired generative model is applied to impute missing values while preserving the temporal characteristics and distribution of the original data.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processed dataset is then transformed into fixed-length time-series sequences, which are split into training, validation, and testing sets to enable proper model training and evaluation.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 LSTM model is initialized and trained to learn temporal patterns and sequential dependencies in AQI data, allowing it to effectively capture trends over time.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parallel, an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 is trained on the same dataset to identify complex nonlinear relationships between pollutant levels and environmental factors.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Predictions are generated independently from both LSTM and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models, capturing different aspects of the data. </a:t>
            </a:r>
          </a:p>
        </p:txBody>
      </p:sp>
    </p:spTree>
    <p:extLst>
      <p:ext uri="{BB962C8B-B14F-4D97-AF65-F5344CB8AC3E}">
        <p14:creationId xmlns:p14="http://schemas.microsoft.com/office/powerpoint/2010/main" val="1077724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0FCD6-8CBD-E8E9-9A46-74EB73F2DE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2D2A15-51D2-445A-25F9-37B79EEE2AFE}"/>
              </a:ext>
            </a:extLst>
          </p:cNvPr>
          <p:cNvSpPr>
            <a:spLocks noGrp="1"/>
          </p:cNvSpPr>
          <p:nvPr>
            <p:ph type="title"/>
          </p:nvPr>
        </p:nvSpPr>
        <p:spPr>
          <a:xfrm>
            <a:off x="630811" y="174396"/>
            <a:ext cx="10515600" cy="1325563"/>
          </a:xfrm>
        </p:spPr>
        <p:txBody>
          <a:bodyPr/>
          <a:lstStyle/>
          <a:p>
            <a:r>
              <a:rPr lang="en-IN" dirty="0"/>
              <a:t>Proposed Methodology</a:t>
            </a:r>
          </a:p>
        </p:txBody>
      </p:sp>
      <p:sp>
        <p:nvSpPr>
          <p:cNvPr id="3" name="Content Placeholder 2">
            <a:extLst>
              <a:ext uri="{FF2B5EF4-FFF2-40B4-BE49-F238E27FC236}">
                <a16:creationId xmlns:a16="http://schemas.microsoft.com/office/drawing/2014/main" id="{CC834BF2-F057-01C7-2B71-52317F2810C2}"/>
              </a:ext>
            </a:extLst>
          </p:cNvPr>
          <p:cNvSpPr>
            <a:spLocks noGrp="1"/>
          </p:cNvSpPr>
          <p:nvPr>
            <p:ph idx="1"/>
          </p:nvPr>
        </p:nvSpPr>
        <p:spPr>
          <a:xfrm>
            <a:off x="417443" y="1769165"/>
            <a:ext cx="11469757" cy="4755280"/>
          </a:xfrm>
        </p:spPr>
        <p:txBody>
          <a:bodyPr>
            <a:normAutofit/>
          </a:bodyPr>
          <a:lstStyle/>
          <a:p>
            <a:pPr marL="0" lvl="0" indent="0" eaLnBrk="0" fontAlgn="base" hangingPunct="0">
              <a:lnSpc>
                <a:spcPct val="150000"/>
              </a:lnSpc>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These predictions are combined using a dynamic weighted ensemble strategy, where weights are assigned based on model performance.</a:t>
            </a:r>
          </a:p>
          <a:p>
            <a:pPr marL="0" lvl="0" indent="0" eaLnBrk="0" fontAlgn="base" hangingPunct="0">
              <a:lnSpc>
                <a:spcPct val="150000"/>
              </a:lnSpc>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The performance of the ensemble model is evaluated using standard regression metrics such as RMSE, MAE, and R² score to measure prediction error and model fit. </a:t>
            </a:r>
          </a:p>
          <a:p>
            <a:pPr marL="0" lvl="0" indent="0" eaLnBrk="0" fontAlgn="base" hangingPunct="0">
              <a:lnSpc>
                <a:spcPct val="150000"/>
              </a:lnSpc>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Explainability is incorporated using SHAP analysis to determine feature importance and understand the contribution of each input variable to the model’s predictions. </a:t>
            </a:r>
          </a:p>
          <a:p>
            <a:pPr marL="0" lvl="0" indent="0" eaLnBrk="0" fontAlgn="base" hangingPunct="0">
              <a:lnSpc>
                <a:spcPct val="150000"/>
              </a:lnSpc>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Additionally, temporal gradient sensitivity analysis is applied to examine how changes over time influence AQI predictions, providing deeper insights into temporal dynamics. </a:t>
            </a:r>
          </a:p>
          <a:p>
            <a:pPr marL="0" lvl="0" indent="0" eaLnBrk="0" fontAlgn="base" hangingPunct="0">
              <a:lnSpc>
                <a:spcPct val="150000"/>
              </a:lnSpc>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Important features identified through explainability techniques are further used to refine the model, demonstrating that accuracy and interpretability can be achieved together. </a:t>
            </a:r>
          </a:p>
          <a:p>
            <a:pPr marL="0" lvl="0" indent="0" eaLnBrk="0" fontAlgn="base" hangingPunct="0">
              <a:lnSpc>
                <a:spcPct val="150000"/>
              </a:lnSpc>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Various visualizations such as line graphs, bar charts, scatter plots, SHAP </a:t>
            </a:r>
            <a:r>
              <a:rPr lang="en-US" altLang="en-US" sz="1600" dirty="0" err="1">
                <a:latin typeface="Times New Roman" panose="02020603050405020304" pitchFamily="18" charset="0"/>
                <a:cs typeface="Times New Roman" panose="02020603050405020304" pitchFamily="18" charset="0"/>
              </a:rPr>
              <a:t>beeswarm</a:t>
            </a:r>
            <a:r>
              <a:rPr lang="en-US" altLang="en-US" sz="1600" dirty="0">
                <a:latin typeface="Times New Roman" panose="02020603050405020304" pitchFamily="18" charset="0"/>
                <a:cs typeface="Times New Roman" panose="02020603050405020304" pitchFamily="18" charset="0"/>
              </a:rPr>
              <a:t> plots, waterfall plots, and heatmaps are generated to analyze trends, feature importance, and model performance. </a:t>
            </a:r>
          </a:p>
          <a:p>
            <a:pPr marL="0" indent="0">
              <a:lnSpc>
                <a:spcPct val="150000"/>
              </a:lnSpc>
              <a:buNone/>
            </a:pPr>
            <a:endParaRPr lang="en-US" sz="1600" dirty="0"/>
          </a:p>
          <a:p>
            <a:pPr marL="0" indent="0">
              <a:lnSpc>
                <a:spcPct val="150000"/>
              </a:lnSpc>
              <a:buNone/>
            </a:pPr>
            <a:endParaRPr lang="en-US" sz="1600" dirty="0"/>
          </a:p>
        </p:txBody>
      </p:sp>
    </p:spTree>
    <p:extLst>
      <p:ext uri="{BB962C8B-B14F-4D97-AF65-F5344CB8AC3E}">
        <p14:creationId xmlns:p14="http://schemas.microsoft.com/office/powerpoint/2010/main" val="2202911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018EA-9414-D64C-4CBE-0B6BA19C42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BB7C2A-1B0F-D40F-AEDC-A70A725F0180}"/>
              </a:ext>
            </a:extLst>
          </p:cNvPr>
          <p:cNvSpPr>
            <a:spLocks noGrp="1"/>
          </p:cNvSpPr>
          <p:nvPr>
            <p:ph type="title"/>
          </p:nvPr>
        </p:nvSpPr>
        <p:spPr>
          <a:xfrm>
            <a:off x="706225" y="0"/>
            <a:ext cx="10515600" cy="1325563"/>
          </a:xfrm>
        </p:spPr>
        <p:txBody>
          <a:bodyPr/>
          <a:lstStyle/>
          <a:p>
            <a:r>
              <a:rPr lang="en-IN" dirty="0"/>
              <a:t>Proposed Methodology (Flowchart)</a:t>
            </a:r>
          </a:p>
        </p:txBody>
      </p:sp>
      <p:pic>
        <p:nvPicPr>
          <p:cNvPr id="3" name="Picture 2">
            <a:extLst>
              <a:ext uri="{FF2B5EF4-FFF2-40B4-BE49-F238E27FC236}">
                <a16:creationId xmlns:a16="http://schemas.microsoft.com/office/drawing/2014/main" id="{9DF720C9-A9E6-AFA5-6A8E-E302FA29F068}"/>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28595" t="44674" r="33405" b="27823"/>
          <a:stretch>
            <a:fillRect/>
          </a:stretch>
        </p:blipFill>
        <p:spPr bwMode="auto">
          <a:xfrm>
            <a:off x="3093376" y="4057178"/>
            <a:ext cx="5857358" cy="2237708"/>
          </a:xfrm>
          <a:prstGeom prst="rect">
            <a:avLst/>
          </a:prstGeom>
          <a:noFill/>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0DE98AE7-3B07-4CCC-5015-9D304329FCCA}"/>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20740" t="12990" r="28473" b="30572"/>
          <a:stretch>
            <a:fillRect/>
          </a:stretch>
        </p:blipFill>
        <p:spPr bwMode="auto">
          <a:xfrm>
            <a:off x="2191557" y="918059"/>
            <a:ext cx="7172781" cy="4449071"/>
          </a:xfrm>
          <a:prstGeom prst="rect">
            <a:avLst/>
          </a:prstGeom>
          <a:noFill/>
          <a:ln>
            <a:noFill/>
          </a:ln>
          <a:extLst>
            <a:ext uri="{53640926-AAD7-44D8-BBD7-CCE9431645EC}">
              <a14:shadowObscured xmlns:a14="http://schemas.microsoft.com/office/drawing/2010/main"/>
            </a:ext>
          </a:extLst>
        </p:spPr>
      </p:pic>
      <p:sp>
        <p:nvSpPr>
          <p:cNvPr id="4" name="Rectangle 3">
            <a:extLst>
              <a:ext uri="{FF2B5EF4-FFF2-40B4-BE49-F238E27FC236}">
                <a16:creationId xmlns:a16="http://schemas.microsoft.com/office/drawing/2014/main" id="{B985FCA8-D3C1-3441-4958-54D09E9CF353}"/>
              </a:ext>
            </a:extLst>
          </p:cNvPr>
          <p:cNvSpPr/>
          <p:nvPr/>
        </p:nvSpPr>
        <p:spPr>
          <a:xfrm>
            <a:off x="4808882" y="5646342"/>
            <a:ext cx="1938129" cy="307777"/>
          </a:xfrm>
          <a:prstGeom prst="rect">
            <a:avLst/>
          </a:prstGeom>
          <a:solidFill>
            <a:schemeClr val="bg1"/>
          </a:solidFill>
        </p:spPr>
        <p:txBody>
          <a:bodyPr wrap="square" lIns="91440" tIns="45720" rIns="91440" bIns="45720">
            <a:spAutoFit/>
          </a:bodyPr>
          <a:lstStyle/>
          <a:p>
            <a:pPr algn="ctr"/>
            <a:r>
              <a:rPr lang="en-US" sz="14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XAI Ensemble </a:t>
            </a:r>
          </a:p>
        </p:txBody>
      </p:sp>
    </p:spTree>
    <p:extLst>
      <p:ext uri="{BB962C8B-B14F-4D97-AF65-F5344CB8AC3E}">
        <p14:creationId xmlns:p14="http://schemas.microsoft.com/office/powerpoint/2010/main" val="1619905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9FAE-C685-2942-D3D4-216A6AC18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B33A6-B209-82E0-3AC4-ED0F2117C15F}"/>
              </a:ext>
            </a:extLst>
          </p:cNvPr>
          <p:cNvSpPr>
            <a:spLocks noGrp="1"/>
          </p:cNvSpPr>
          <p:nvPr>
            <p:ph type="title"/>
          </p:nvPr>
        </p:nvSpPr>
        <p:spPr>
          <a:xfrm>
            <a:off x="716437" y="71744"/>
            <a:ext cx="10515600" cy="1325563"/>
          </a:xfrm>
        </p:spPr>
        <p:txBody>
          <a:bodyPr/>
          <a:lstStyle/>
          <a:p>
            <a:r>
              <a:rPr lang="en-IN" dirty="0"/>
              <a:t>Result </a:t>
            </a:r>
          </a:p>
        </p:txBody>
      </p:sp>
      <p:sp>
        <p:nvSpPr>
          <p:cNvPr id="3" name="Content Placeholder 2">
            <a:extLst>
              <a:ext uri="{FF2B5EF4-FFF2-40B4-BE49-F238E27FC236}">
                <a16:creationId xmlns:a16="http://schemas.microsoft.com/office/drawing/2014/main" id="{3D7D4913-00D1-0B0F-38B7-C226FBBC330D}"/>
              </a:ext>
            </a:extLst>
          </p:cNvPr>
          <p:cNvSpPr>
            <a:spLocks noGrp="1"/>
          </p:cNvSpPr>
          <p:nvPr>
            <p:ph idx="1"/>
          </p:nvPr>
        </p:nvSpPr>
        <p:spPr>
          <a:xfrm>
            <a:off x="716437" y="1084082"/>
            <a:ext cx="10637363" cy="5431891"/>
          </a:xfrm>
        </p:spPr>
        <p:txBody>
          <a:bodyPr>
            <a:normAutofit/>
          </a:bodyPr>
          <a:lstStyle/>
          <a:p>
            <a:pPr marL="0" indent="0">
              <a:buNone/>
            </a:pPr>
            <a:r>
              <a:rPr lang="en-US" sz="1400" dirty="0">
                <a:latin typeface="Times New Roman" panose="02020603050405020304" pitchFamily="18" charset="0"/>
                <a:cs typeface="Times New Roman" panose="02020603050405020304" pitchFamily="18" charset="0"/>
              </a:rPr>
              <a:t>Training on different models:</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097B7EDC-98B1-D951-EAF7-A92E41F74679}"/>
              </a:ext>
            </a:extLst>
          </p:cNvPr>
          <p:cNvGraphicFramePr>
            <a:graphicFrameLocks noGrp="1"/>
          </p:cNvGraphicFramePr>
          <p:nvPr>
            <p:extLst>
              <p:ext uri="{D42A27DB-BD31-4B8C-83A1-F6EECF244321}">
                <p14:modId xmlns:p14="http://schemas.microsoft.com/office/powerpoint/2010/main" val="384733060"/>
              </p:ext>
            </p:extLst>
          </p:nvPr>
        </p:nvGraphicFramePr>
        <p:xfrm>
          <a:off x="838200" y="1397307"/>
          <a:ext cx="6297891" cy="1487378"/>
        </p:xfrm>
        <a:graphic>
          <a:graphicData uri="http://schemas.openxmlformats.org/drawingml/2006/table">
            <a:tbl>
              <a:tblPr firstRow="1" firstCol="1" bandRow="1">
                <a:tableStyleId>{5940675A-B579-460E-94D1-54222C63F5DA}</a:tableStyleId>
              </a:tblPr>
              <a:tblGrid>
                <a:gridCol w="1677860">
                  <a:extLst>
                    <a:ext uri="{9D8B030D-6E8A-4147-A177-3AD203B41FA5}">
                      <a16:colId xmlns:a16="http://schemas.microsoft.com/office/drawing/2014/main" val="3344760248"/>
                    </a:ext>
                  </a:extLst>
                </a:gridCol>
                <a:gridCol w="1085387">
                  <a:extLst>
                    <a:ext uri="{9D8B030D-6E8A-4147-A177-3AD203B41FA5}">
                      <a16:colId xmlns:a16="http://schemas.microsoft.com/office/drawing/2014/main" val="4065728240"/>
                    </a:ext>
                  </a:extLst>
                </a:gridCol>
                <a:gridCol w="944057">
                  <a:extLst>
                    <a:ext uri="{9D8B030D-6E8A-4147-A177-3AD203B41FA5}">
                      <a16:colId xmlns:a16="http://schemas.microsoft.com/office/drawing/2014/main" val="1983277110"/>
                    </a:ext>
                  </a:extLst>
                </a:gridCol>
                <a:gridCol w="1261527">
                  <a:extLst>
                    <a:ext uri="{9D8B030D-6E8A-4147-A177-3AD203B41FA5}">
                      <a16:colId xmlns:a16="http://schemas.microsoft.com/office/drawing/2014/main" val="829680423"/>
                    </a:ext>
                  </a:extLst>
                </a:gridCol>
                <a:gridCol w="1329060">
                  <a:extLst>
                    <a:ext uri="{9D8B030D-6E8A-4147-A177-3AD203B41FA5}">
                      <a16:colId xmlns:a16="http://schemas.microsoft.com/office/drawing/2014/main" val="1018795933"/>
                    </a:ext>
                  </a:extLst>
                </a:gridCol>
              </a:tblGrid>
              <a:tr h="451362">
                <a:tc>
                  <a:txBody>
                    <a:bodyPr/>
                    <a:lstStyle/>
                    <a:p>
                      <a:pPr algn="ctr">
                        <a:lnSpc>
                          <a:spcPct val="115000"/>
                        </a:lnSpc>
                        <a:spcAft>
                          <a:spcPts val="800"/>
                        </a:spcAft>
                        <a:buNone/>
                      </a:pPr>
                      <a:r>
                        <a:rPr lang="en-IN" sz="1400" kern="0" dirty="0">
                          <a:effectLst/>
                          <a:latin typeface="Times New Roman" panose="02020603050405020304" pitchFamily="18" charset="0"/>
                          <a:cs typeface="Times New Roman" panose="02020603050405020304" pitchFamily="18" charset="0"/>
                        </a:rPr>
                        <a:t>Methods</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r>
                        <a:rPr lang="en-IN" sz="1400" kern="0" dirty="0">
                          <a:effectLst/>
                          <a:latin typeface="Times New Roman" panose="02020603050405020304" pitchFamily="18" charset="0"/>
                          <a:cs typeface="Times New Roman" panose="02020603050405020304" pitchFamily="18" charset="0"/>
                        </a:rPr>
                        <a:t>Training Loss</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r>
                        <a:rPr lang="en-IN" sz="1400" kern="0" dirty="0">
                          <a:effectLst/>
                          <a:latin typeface="Times New Roman" panose="02020603050405020304" pitchFamily="18" charset="0"/>
                          <a:cs typeface="Times New Roman" panose="02020603050405020304" pitchFamily="18" charset="0"/>
                        </a:rPr>
                        <a:t>Validation Loss</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r>
                        <a:rPr lang="en-IN" sz="1400" kern="0" dirty="0">
                          <a:effectLst/>
                          <a:latin typeface="Times New Roman" panose="02020603050405020304" pitchFamily="18" charset="0"/>
                          <a:cs typeface="Times New Roman" panose="02020603050405020304" pitchFamily="18" charset="0"/>
                        </a:rPr>
                        <a:t>Training Accuracy (%)</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r>
                        <a:rPr lang="en-IN" sz="1400" kern="0" dirty="0">
                          <a:effectLst/>
                          <a:latin typeface="Times New Roman" panose="02020603050405020304" pitchFamily="18" charset="0"/>
                          <a:cs typeface="Times New Roman" panose="02020603050405020304" pitchFamily="18" charset="0"/>
                        </a:rPr>
                        <a:t>Test Accuracy (%)</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8684748"/>
                  </a:ext>
                </a:extLst>
              </a:tr>
              <a:tr h="216282">
                <a:tc>
                  <a:txBody>
                    <a:bodyPr/>
                    <a:lstStyle/>
                    <a:p>
                      <a:pPr algn="ctr">
                        <a:lnSpc>
                          <a:spcPct val="115000"/>
                        </a:lnSpc>
                        <a:spcAft>
                          <a:spcPts val="800"/>
                        </a:spcAft>
                        <a:buNone/>
                      </a:pPr>
                      <a:r>
                        <a:rPr lang="en-IN" sz="1400" kern="0" dirty="0">
                          <a:effectLst/>
                          <a:latin typeface="Times New Roman" panose="02020603050405020304" pitchFamily="18" charset="0"/>
                          <a:cs typeface="Times New Roman" panose="02020603050405020304" pitchFamily="18" charset="0"/>
                        </a:rPr>
                        <a:t>ARIMA</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lnSpc>
                          <a:spcPct val="115000"/>
                        </a:lnSpc>
                        <a:spcAft>
                          <a:spcPts val="800"/>
                        </a:spcAft>
                        <a:buNone/>
                      </a:pPr>
                      <a:r>
                        <a:rPr lang="en-IN" sz="1400" kern="0" dirty="0">
                          <a:effectLst/>
                          <a:latin typeface="Times New Roman" panose="02020603050405020304" pitchFamily="18" charset="0"/>
                          <a:cs typeface="Times New Roman" panose="02020603050405020304" pitchFamily="18" charset="0"/>
                        </a:rPr>
                        <a:t>0.426</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lnSpc>
                          <a:spcPct val="115000"/>
                        </a:lnSpc>
                        <a:spcAft>
                          <a:spcPts val="800"/>
                        </a:spcAft>
                        <a:buNone/>
                      </a:pPr>
                      <a:r>
                        <a:rPr lang="en-IN" sz="1400" kern="0" dirty="0">
                          <a:effectLst/>
                          <a:latin typeface="Times New Roman" panose="02020603050405020304" pitchFamily="18" charset="0"/>
                          <a:cs typeface="Times New Roman" panose="02020603050405020304" pitchFamily="18" charset="0"/>
                        </a:rPr>
                        <a:t>0.489</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lnSpc>
                          <a:spcPct val="115000"/>
                        </a:lnSpc>
                        <a:spcAft>
                          <a:spcPts val="800"/>
                        </a:spcAft>
                        <a:buNone/>
                      </a:pPr>
                      <a:r>
                        <a:rPr lang="en-IN" sz="1400" kern="0" dirty="0">
                          <a:effectLst/>
                          <a:latin typeface="Times New Roman" panose="02020603050405020304" pitchFamily="18" charset="0"/>
                          <a:cs typeface="Times New Roman" panose="02020603050405020304" pitchFamily="18" charset="0"/>
                        </a:rPr>
                        <a:t>83.21</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lnSpc>
                          <a:spcPct val="115000"/>
                        </a:lnSpc>
                        <a:spcAft>
                          <a:spcPts val="800"/>
                        </a:spcAft>
                        <a:buNone/>
                      </a:pPr>
                      <a:r>
                        <a:rPr lang="en-IN" sz="1400" kern="0">
                          <a:effectLst/>
                          <a:latin typeface="Times New Roman" panose="02020603050405020304" pitchFamily="18" charset="0"/>
                          <a:cs typeface="Times New Roman" panose="02020603050405020304" pitchFamily="18" charset="0"/>
                        </a:rPr>
                        <a:t>80.35</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86533457"/>
                  </a:ext>
                </a:extLst>
              </a:tr>
              <a:tr h="218829">
                <a:tc>
                  <a:txBody>
                    <a:bodyPr/>
                    <a:lstStyle/>
                    <a:p>
                      <a:pPr algn="ctr">
                        <a:lnSpc>
                          <a:spcPct val="115000"/>
                        </a:lnSpc>
                        <a:spcAft>
                          <a:spcPts val="800"/>
                        </a:spcAft>
                        <a:buNone/>
                      </a:pPr>
                      <a:r>
                        <a:rPr lang="en-IN" sz="1400" kern="0" dirty="0">
                          <a:effectLst/>
                          <a:latin typeface="Times New Roman" panose="02020603050405020304" pitchFamily="18" charset="0"/>
                          <a:cs typeface="Times New Roman" panose="02020603050405020304" pitchFamily="18" charset="0"/>
                        </a:rPr>
                        <a:t>Random Forest</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lnSpc>
                          <a:spcPct val="115000"/>
                        </a:lnSpc>
                        <a:spcAft>
                          <a:spcPts val="800"/>
                        </a:spcAft>
                        <a:buNone/>
                      </a:pPr>
                      <a:r>
                        <a:rPr lang="en-IN" sz="1400" kern="0" dirty="0">
                          <a:effectLst/>
                          <a:latin typeface="Times New Roman" panose="02020603050405020304" pitchFamily="18" charset="0"/>
                          <a:cs typeface="Times New Roman" panose="02020603050405020304" pitchFamily="18" charset="0"/>
                        </a:rPr>
                        <a:t>0.352</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lnSpc>
                          <a:spcPct val="115000"/>
                        </a:lnSpc>
                        <a:spcAft>
                          <a:spcPts val="800"/>
                        </a:spcAft>
                        <a:buNone/>
                      </a:pPr>
                      <a:r>
                        <a:rPr lang="en-IN" sz="1400" kern="0" dirty="0">
                          <a:effectLst/>
                          <a:latin typeface="Times New Roman" panose="02020603050405020304" pitchFamily="18" charset="0"/>
                          <a:cs typeface="Times New Roman" panose="02020603050405020304" pitchFamily="18" charset="0"/>
                        </a:rPr>
                        <a:t>0.441</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lnSpc>
                          <a:spcPct val="115000"/>
                        </a:lnSpc>
                        <a:spcAft>
                          <a:spcPts val="800"/>
                        </a:spcAft>
                        <a:buNone/>
                      </a:pPr>
                      <a:r>
                        <a:rPr lang="en-IN" sz="1400" kern="0" dirty="0">
                          <a:effectLst/>
                          <a:latin typeface="Times New Roman" panose="02020603050405020304" pitchFamily="18" charset="0"/>
                          <a:cs typeface="Times New Roman" panose="02020603050405020304" pitchFamily="18" charset="0"/>
                        </a:rPr>
                        <a:t>86.47</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lnSpc>
                          <a:spcPct val="115000"/>
                        </a:lnSpc>
                        <a:spcAft>
                          <a:spcPts val="800"/>
                        </a:spcAft>
                        <a:buNone/>
                      </a:pPr>
                      <a:r>
                        <a:rPr lang="en-IN" sz="1400" kern="0" dirty="0">
                          <a:effectLst/>
                          <a:latin typeface="Times New Roman" panose="02020603050405020304" pitchFamily="18" charset="0"/>
                          <a:cs typeface="Times New Roman" panose="02020603050405020304" pitchFamily="18" charset="0"/>
                        </a:rPr>
                        <a:t>84.9</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53452303"/>
                  </a:ext>
                </a:extLst>
              </a:tr>
              <a:tr h="279371">
                <a:tc>
                  <a:txBody>
                    <a:bodyPr/>
                    <a:lstStyle/>
                    <a:p>
                      <a:pPr algn="ctr">
                        <a:lnSpc>
                          <a:spcPct val="115000"/>
                        </a:lnSpc>
                        <a:spcAft>
                          <a:spcPts val="800"/>
                        </a:spcAft>
                        <a:buNone/>
                      </a:pPr>
                      <a:r>
                        <a:rPr lang="en-IN" sz="1400" kern="0" dirty="0">
                          <a:effectLst/>
                          <a:latin typeface="Times New Roman" panose="02020603050405020304" pitchFamily="18" charset="0"/>
                          <a:cs typeface="Times New Roman" panose="02020603050405020304" pitchFamily="18" charset="0"/>
                        </a:rPr>
                        <a:t> SVM</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lnSpc>
                          <a:spcPct val="115000"/>
                        </a:lnSpc>
                        <a:spcAft>
                          <a:spcPts val="800"/>
                        </a:spcAft>
                        <a:buNone/>
                      </a:pPr>
                      <a:r>
                        <a:rPr lang="en-IN" sz="1400" kern="0" dirty="0">
                          <a:effectLst/>
                          <a:latin typeface="Times New Roman" panose="02020603050405020304" pitchFamily="18" charset="0"/>
                          <a:cs typeface="Times New Roman" panose="02020603050405020304" pitchFamily="18" charset="0"/>
                        </a:rPr>
                        <a:t>0.371</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lnSpc>
                          <a:spcPct val="115000"/>
                        </a:lnSpc>
                        <a:spcAft>
                          <a:spcPts val="800"/>
                        </a:spcAft>
                        <a:buNone/>
                      </a:pPr>
                      <a:r>
                        <a:rPr lang="en-IN" sz="1400" kern="0" dirty="0">
                          <a:effectLst/>
                          <a:latin typeface="Times New Roman" panose="02020603050405020304" pitchFamily="18" charset="0"/>
                          <a:cs typeface="Times New Roman" panose="02020603050405020304" pitchFamily="18" charset="0"/>
                        </a:rPr>
                        <a:t>0.408</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lnSpc>
                          <a:spcPct val="115000"/>
                        </a:lnSpc>
                        <a:spcAft>
                          <a:spcPts val="800"/>
                        </a:spcAft>
                        <a:buNone/>
                      </a:pPr>
                      <a:r>
                        <a:rPr lang="en-IN" sz="1400" kern="0" dirty="0">
                          <a:effectLst/>
                          <a:latin typeface="Times New Roman" panose="02020603050405020304" pitchFamily="18" charset="0"/>
                          <a:cs typeface="Times New Roman" panose="02020603050405020304" pitchFamily="18" charset="0"/>
                        </a:rPr>
                        <a:t>87.62</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lnSpc>
                          <a:spcPct val="115000"/>
                        </a:lnSpc>
                        <a:spcAft>
                          <a:spcPts val="800"/>
                        </a:spcAft>
                        <a:buNone/>
                      </a:pPr>
                      <a:r>
                        <a:rPr lang="en-IN" sz="1400" kern="0" dirty="0">
                          <a:effectLst/>
                          <a:latin typeface="Times New Roman" panose="02020603050405020304" pitchFamily="18" charset="0"/>
                          <a:cs typeface="Times New Roman" panose="02020603050405020304" pitchFamily="18" charset="0"/>
                        </a:rPr>
                        <a:t>86.5</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17737125"/>
                  </a:ext>
                </a:extLst>
              </a:tr>
              <a:tr h="285414">
                <a:tc>
                  <a:txBody>
                    <a:bodyPr/>
                    <a:lstStyle/>
                    <a:p>
                      <a:pPr algn="ctr">
                        <a:lnSpc>
                          <a:spcPct val="150000"/>
                        </a:lnSpc>
                        <a:spcAft>
                          <a:spcPts val="800"/>
                        </a:spcAft>
                        <a:buNone/>
                      </a:pPr>
                      <a:r>
                        <a:rPr lang="en-IN" sz="1400" kern="0" dirty="0">
                          <a:effectLst/>
                          <a:latin typeface="Times New Roman" panose="02020603050405020304" pitchFamily="18" charset="0"/>
                          <a:cs typeface="Times New Roman" panose="02020603050405020304" pitchFamily="18" charset="0"/>
                        </a:rPr>
                        <a:t>TimeGAN </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800"/>
                        </a:spcAft>
                        <a:buNone/>
                      </a:pPr>
                      <a:r>
                        <a:rPr lang="en-IN" sz="1400" kern="0" dirty="0">
                          <a:effectLst/>
                          <a:latin typeface="Times New Roman" panose="02020603050405020304" pitchFamily="18" charset="0"/>
                          <a:cs typeface="Times New Roman" panose="02020603050405020304" pitchFamily="18" charset="0"/>
                        </a:rPr>
                        <a:t>0.182</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800"/>
                        </a:spcAft>
                        <a:buNone/>
                      </a:pPr>
                      <a:r>
                        <a:rPr lang="en-IN" sz="1400" kern="0" dirty="0">
                          <a:effectLst/>
                          <a:latin typeface="Times New Roman" panose="02020603050405020304" pitchFamily="18" charset="0"/>
                          <a:cs typeface="Times New Roman" panose="02020603050405020304" pitchFamily="18" charset="0"/>
                        </a:rPr>
                        <a:t>0.216</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800"/>
                        </a:spcAft>
                        <a:buNone/>
                      </a:pPr>
                      <a:r>
                        <a:rPr lang="en-IN" sz="1400" kern="0" dirty="0">
                          <a:effectLst/>
                          <a:latin typeface="Times New Roman" panose="02020603050405020304" pitchFamily="18" charset="0"/>
                          <a:cs typeface="Times New Roman" panose="02020603050405020304" pitchFamily="18" charset="0"/>
                        </a:rPr>
                        <a:t>94.88</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800"/>
                        </a:spcAft>
                        <a:buNone/>
                      </a:pPr>
                      <a:r>
                        <a:rPr lang="en-IN" sz="1400" kern="0" dirty="0">
                          <a:effectLst/>
                          <a:latin typeface="Times New Roman" panose="02020603050405020304" pitchFamily="18" charset="0"/>
                          <a:cs typeface="Times New Roman" panose="02020603050405020304" pitchFamily="18" charset="0"/>
                        </a:rPr>
                        <a:t>95.8</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891462"/>
                  </a:ext>
                </a:extLst>
              </a:tr>
            </a:tbl>
          </a:graphicData>
        </a:graphic>
      </p:graphicFrame>
      <p:graphicFrame>
        <p:nvGraphicFramePr>
          <p:cNvPr id="4" name="Table 3">
            <a:extLst>
              <a:ext uri="{FF2B5EF4-FFF2-40B4-BE49-F238E27FC236}">
                <a16:creationId xmlns:a16="http://schemas.microsoft.com/office/drawing/2014/main" id="{430C5E2B-3E03-D588-F8F5-E89F398145F8}"/>
              </a:ext>
            </a:extLst>
          </p:cNvPr>
          <p:cNvGraphicFramePr>
            <a:graphicFrameLocks noGrp="1"/>
          </p:cNvGraphicFramePr>
          <p:nvPr>
            <p:extLst>
              <p:ext uri="{D42A27DB-BD31-4B8C-83A1-F6EECF244321}">
                <p14:modId xmlns:p14="http://schemas.microsoft.com/office/powerpoint/2010/main" val="2474943899"/>
              </p:ext>
            </p:extLst>
          </p:nvPr>
        </p:nvGraphicFramePr>
        <p:xfrm>
          <a:off x="838200" y="3607904"/>
          <a:ext cx="6385053" cy="2258547"/>
        </p:xfrm>
        <a:graphic>
          <a:graphicData uri="http://schemas.openxmlformats.org/drawingml/2006/table">
            <a:tbl>
              <a:tblPr firstRow="1" firstCol="1" bandRow="1">
                <a:tableStyleId>{5940675A-B579-460E-94D1-54222C63F5DA}</a:tableStyleId>
              </a:tblPr>
              <a:tblGrid>
                <a:gridCol w="1838048">
                  <a:extLst>
                    <a:ext uri="{9D8B030D-6E8A-4147-A177-3AD203B41FA5}">
                      <a16:colId xmlns:a16="http://schemas.microsoft.com/office/drawing/2014/main" val="3394921584"/>
                    </a:ext>
                  </a:extLst>
                </a:gridCol>
                <a:gridCol w="1328883">
                  <a:extLst>
                    <a:ext uri="{9D8B030D-6E8A-4147-A177-3AD203B41FA5}">
                      <a16:colId xmlns:a16="http://schemas.microsoft.com/office/drawing/2014/main" val="2124486205"/>
                    </a:ext>
                  </a:extLst>
                </a:gridCol>
                <a:gridCol w="982841">
                  <a:extLst>
                    <a:ext uri="{9D8B030D-6E8A-4147-A177-3AD203B41FA5}">
                      <a16:colId xmlns:a16="http://schemas.microsoft.com/office/drawing/2014/main" val="2871461825"/>
                    </a:ext>
                  </a:extLst>
                </a:gridCol>
                <a:gridCol w="982841">
                  <a:extLst>
                    <a:ext uri="{9D8B030D-6E8A-4147-A177-3AD203B41FA5}">
                      <a16:colId xmlns:a16="http://schemas.microsoft.com/office/drawing/2014/main" val="2743641589"/>
                    </a:ext>
                  </a:extLst>
                </a:gridCol>
                <a:gridCol w="1252440">
                  <a:extLst>
                    <a:ext uri="{9D8B030D-6E8A-4147-A177-3AD203B41FA5}">
                      <a16:colId xmlns:a16="http://schemas.microsoft.com/office/drawing/2014/main" val="1863030505"/>
                    </a:ext>
                  </a:extLst>
                </a:gridCol>
              </a:tblGrid>
              <a:tr h="530821">
                <a:tc>
                  <a:txBody>
                    <a:bodyPr/>
                    <a:lstStyle/>
                    <a:p>
                      <a:pPr algn="ctr">
                        <a:lnSpc>
                          <a:spcPct val="115000"/>
                        </a:lnSpc>
                        <a:spcAft>
                          <a:spcPts val="800"/>
                        </a:spcAft>
                        <a:buNone/>
                      </a:pPr>
                      <a:r>
                        <a:rPr lang="en-IN" sz="1200" b="1" kern="100" dirty="0">
                          <a:effectLst/>
                          <a:latin typeface="Times New Roman" panose="02020603050405020304" pitchFamily="18" charset="0"/>
                          <a:cs typeface="Times New Roman" panose="02020603050405020304" pitchFamily="18" charset="0"/>
                        </a:rPr>
                        <a:t>Model</a:t>
                      </a:r>
                      <a:endPar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b="1" kern="100" dirty="0">
                          <a:effectLst/>
                          <a:latin typeface="Times New Roman" panose="02020603050405020304" pitchFamily="18" charset="0"/>
                          <a:cs typeface="Times New Roman" panose="02020603050405020304" pitchFamily="18" charset="0"/>
                        </a:rPr>
                        <a:t>RMSE</a:t>
                      </a:r>
                      <a:endPar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b="1" kern="100" dirty="0">
                          <a:effectLst/>
                          <a:latin typeface="Times New Roman" panose="02020603050405020304" pitchFamily="18" charset="0"/>
                          <a:cs typeface="Times New Roman" panose="02020603050405020304" pitchFamily="18" charset="0"/>
                        </a:rPr>
                        <a:t>MAE</a:t>
                      </a:r>
                      <a:endPar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b="1" kern="100" dirty="0">
                          <a:effectLst/>
                          <a:latin typeface="Times New Roman" panose="02020603050405020304" pitchFamily="18" charset="0"/>
                          <a:cs typeface="Times New Roman" panose="02020603050405020304" pitchFamily="18" charset="0"/>
                        </a:rPr>
                        <a:t>R²</a:t>
                      </a:r>
                      <a:endPar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b="1" kern="100" dirty="0">
                          <a:effectLst/>
                          <a:latin typeface="Times New Roman" panose="02020603050405020304" pitchFamily="18" charset="0"/>
                          <a:cs typeface="Times New Roman" panose="02020603050405020304" pitchFamily="18" charset="0"/>
                        </a:rPr>
                        <a:t>XAI Integration</a:t>
                      </a:r>
                      <a:endPar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25281789"/>
                  </a:ext>
                </a:extLst>
              </a:tr>
              <a:tr h="354732">
                <a:tc>
                  <a:txBody>
                    <a:bodyPr/>
                    <a:lstStyle/>
                    <a:p>
                      <a:pPr algn="ct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LSTM</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0.8430</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0.6717</a:t>
                      </a:r>
                      <a:endParaRPr lang="en-IN"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0.9971</a:t>
                      </a:r>
                      <a:endParaRPr lang="en-IN"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None</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98034867"/>
                  </a:ext>
                </a:extLst>
              </a:tr>
              <a:tr h="317345">
                <a:tc>
                  <a:txBody>
                    <a:bodyPr/>
                    <a:lstStyle/>
                    <a:p>
                      <a:pPr algn="ct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XGBoost</a:t>
                      </a:r>
                      <a:endParaRPr lang="en-IN"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0.8110</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0.5730</a:t>
                      </a:r>
                      <a:endParaRPr lang="en-IN"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0.9973</a:t>
                      </a:r>
                      <a:endParaRPr lang="en-IN"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None</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27419572"/>
                  </a:ext>
                </a:extLst>
              </a:tr>
              <a:tr h="392770">
                <a:tc>
                  <a:txBody>
                    <a:bodyPr/>
                    <a:lstStyle/>
                    <a:p>
                      <a:pPr algn="ct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Ensemble (LSTM + XGBoost)</a:t>
                      </a:r>
                      <a:endParaRPr lang="en-IN"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0.6175</a:t>
                      </a:r>
                      <a:endParaRPr lang="en-IN"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0.4769</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0.9984</a:t>
                      </a:r>
                      <a:endParaRPr lang="en-IN"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None</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69012115"/>
                  </a:ext>
                </a:extLst>
              </a:tr>
              <a:tr h="651916">
                <a:tc>
                  <a:txBody>
                    <a:bodyPr/>
                    <a:lstStyle/>
                    <a:p>
                      <a:pPr algn="ct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XAI-Enhanced Ensemble (SHAP-guided)</a:t>
                      </a:r>
                      <a:endParaRPr lang="en-IN"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0.3817</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0.2773</a:t>
                      </a:r>
                      <a:endParaRPr lang="en-IN"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0.9994</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SHAP + Temporal Sensitivity</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31650822"/>
                  </a:ext>
                </a:extLst>
              </a:tr>
            </a:tbl>
          </a:graphicData>
        </a:graphic>
      </p:graphicFrame>
    </p:spTree>
    <p:extLst>
      <p:ext uri="{BB962C8B-B14F-4D97-AF65-F5344CB8AC3E}">
        <p14:creationId xmlns:p14="http://schemas.microsoft.com/office/powerpoint/2010/main" val="3645671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1206F-6E58-2A68-DAEF-814CFEA6F5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A69101-2CC8-01F5-0DF2-84279624E555}"/>
              </a:ext>
            </a:extLst>
          </p:cNvPr>
          <p:cNvSpPr>
            <a:spLocks noGrp="1"/>
          </p:cNvSpPr>
          <p:nvPr>
            <p:ph type="title"/>
          </p:nvPr>
        </p:nvSpPr>
        <p:spPr>
          <a:xfrm>
            <a:off x="716437" y="71744"/>
            <a:ext cx="10515600" cy="1325563"/>
          </a:xfrm>
        </p:spPr>
        <p:txBody>
          <a:bodyPr/>
          <a:lstStyle/>
          <a:p>
            <a:r>
              <a:rPr lang="en-IN" dirty="0"/>
              <a:t>Result </a:t>
            </a:r>
          </a:p>
        </p:txBody>
      </p:sp>
      <p:sp>
        <p:nvSpPr>
          <p:cNvPr id="3" name="Content Placeholder 2">
            <a:extLst>
              <a:ext uri="{FF2B5EF4-FFF2-40B4-BE49-F238E27FC236}">
                <a16:creationId xmlns:a16="http://schemas.microsoft.com/office/drawing/2014/main" id="{295EA13B-80BB-6B2B-728F-8337EDE9977E}"/>
              </a:ext>
            </a:extLst>
          </p:cNvPr>
          <p:cNvSpPr>
            <a:spLocks noGrp="1"/>
          </p:cNvSpPr>
          <p:nvPr>
            <p:ph idx="1"/>
          </p:nvPr>
        </p:nvSpPr>
        <p:spPr>
          <a:xfrm>
            <a:off x="716437" y="1084082"/>
            <a:ext cx="10637363" cy="5431891"/>
          </a:xfrm>
        </p:spPr>
        <p:txBody>
          <a:bodyPr>
            <a:normAutofit/>
          </a:bodyPr>
          <a:lstStyle/>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4E5E127-EC27-5F3A-D156-4DA50AC6E33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8926" y="1634780"/>
            <a:ext cx="10776637" cy="4060342"/>
          </a:xfrm>
          <a:prstGeom prst="rect">
            <a:avLst/>
          </a:prstGeom>
          <a:noFill/>
          <a:ln>
            <a:noFill/>
          </a:ln>
        </p:spPr>
      </p:pic>
    </p:spTree>
    <p:extLst>
      <p:ext uri="{BB962C8B-B14F-4D97-AF65-F5344CB8AC3E}">
        <p14:creationId xmlns:p14="http://schemas.microsoft.com/office/powerpoint/2010/main" val="147803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19452-3000-DF4A-F633-2C06CB0E4BBE}"/>
              </a:ext>
            </a:extLst>
          </p:cNvPr>
          <p:cNvSpPr>
            <a:spLocks noGrp="1"/>
          </p:cNvSpPr>
          <p:nvPr>
            <p:ph type="title"/>
          </p:nvPr>
        </p:nvSpPr>
        <p:spPr/>
        <p:txBody>
          <a:bodyPr/>
          <a:lstStyle/>
          <a:p>
            <a:r>
              <a:rPr lang="en-US" dirty="0"/>
              <a:t>Outcome </a:t>
            </a:r>
          </a:p>
        </p:txBody>
      </p:sp>
      <p:sp>
        <p:nvSpPr>
          <p:cNvPr id="3" name="Content Placeholder 2">
            <a:extLst>
              <a:ext uri="{FF2B5EF4-FFF2-40B4-BE49-F238E27FC236}">
                <a16:creationId xmlns:a16="http://schemas.microsoft.com/office/drawing/2014/main" id="{996084D1-BF8A-599C-4DEE-5FD15C78EC1C}"/>
              </a:ext>
            </a:extLst>
          </p:cNvPr>
          <p:cNvSpPr>
            <a:spLocks noGrp="1"/>
          </p:cNvSpPr>
          <p:nvPr>
            <p:ph idx="1"/>
          </p:nvPr>
        </p:nvSpPr>
        <p:spPr/>
        <p:txBody>
          <a:bodyPr/>
          <a:lstStyle/>
          <a:p>
            <a:pPr marL="0" indent="0">
              <a:buNone/>
            </a:pPr>
            <a:endParaRPr lang="en-US" dirty="0"/>
          </a:p>
          <a:p>
            <a:r>
              <a:rPr lang="en-US" sz="2000" dirty="0"/>
              <a:t>Research Paper (Drafted)</a:t>
            </a:r>
          </a:p>
          <a:p>
            <a:r>
              <a:rPr lang="en-US" sz="2000" dirty="0"/>
              <a:t>Patent   (To be drafted)</a:t>
            </a:r>
          </a:p>
          <a:p>
            <a:r>
              <a:rPr lang="en-US" sz="2000" dirty="0"/>
              <a:t>Copyright (To be published)</a:t>
            </a:r>
          </a:p>
        </p:txBody>
      </p:sp>
    </p:spTree>
    <p:extLst>
      <p:ext uri="{BB962C8B-B14F-4D97-AF65-F5344CB8AC3E}">
        <p14:creationId xmlns:p14="http://schemas.microsoft.com/office/powerpoint/2010/main" val="2154956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a:xfrm>
            <a:off x="838200" y="195441"/>
            <a:ext cx="10515600" cy="1325563"/>
          </a:xfrm>
        </p:spPr>
        <p:txBody>
          <a:bodyPr/>
          <a:lstStyle/>
          <a:p>
            <a:r>
              <a:rPr lang="en-IN" dirty="0"/>
              <a:t>References</a:t>
            </a:r>
          </a:p>
        </p:txBody>
      </p:sp>
      <p:sp>
        <p:nvSpPr>
          <p:cNvPr id="3" name="Content Placeholder 2">
            <a:extLst>
              <a:ext uri="{FF2B5EF4-FFF2-40B4-BE49-F238E27FC236}">
                <a16:creationId xmlns:a16="http://schemas.microsoft.com/office/drawing/2014/main" id="{A6188C38-4C0A-7C78-2FF6-39EB62252E81}"/>
              </a:ext>
            </a:extLst>
          </p:cNvPr>
          <p:cNvSpPr>
            <a:spLocks noGrp="1"/>
          </p:cNvSpPr>
          <p:nvPr>
            <p:ph idx="1"/>
          </p:nvPr>
        </p:nvSpPr>
        <p:spPr>
          <a:xfrm>
            <a:off x="838200" y="1379602"/>
            <a:ext cx="10863606" cy="4802187"/>
          </a:xfrm>
        </p:spPr>
        <p:txBody>
          <a:bodyPr numCol="2">
            <a:normAutofit fontScale="47500" lnSpcReduction="20000"/>
          </a:bodyPr>
          <a:lstStyle/>
          <a:p>
            <a:pPr marL="457200" lvl="0" indent="-457200">
              <a:buFont typeface="+mj-lt"/>
              <a:buAutoNum type="arabicPeriod"/>
            </a:pPr>
            <a:r>
              <a:rPr lang="en-IN" sz="2500" dirty="0">
                <a:latin typeface="Times New Roman" panose="02020603050405020304" pitchFamily="18" charset="0"/>
                <a:cs typeface="Times New Roman" panose="02020603050405020304" pitchFamily="18" charset="0"/>
              </a:rPr>
              <a:t>United Nations, </a:t>
            </a:r>
            <a:r>
              <a:rPr lang="en-IN" sz="2500" i="1" dirty="0">
                <a:latin typeface="Times New Roman" panose="02020603050405020304" pitchFamily="18" charset="0"/>
                <a:cs typeface="Times New Roman" panose="02020603050405020304" pitchFamily="18" charset="0"/>
              </a:rPr>
              <a:t>Transforming our world: The 2030 Agenda for Sustainable Development</a:t>
            </a:r>
            <a:r>
              <a:rPr lang="en-IN" sz="2500" dirty="0">
                <a:latin typeface="Times New Roman" panose="02020603050405020304" pitchFamily="18" charset="0"/>
                <a:cs typeface="Times New Roman" panose="02020603050405020304" pitchFamily="18" charset="0"/>
              </a:rPr>
              <a:t>, United Nations General Assembly, New York, NY, USA, 2015.</a:t>
            </a:r>
          </a:p>
          <a:p>
            <a:pPr marL="457200" lvl="0" indent="-457200">
              <a:buFont typeface="+mj-lt"/>
              <a:buAutoNum type="arabicPeriod"/>
            </a:pPr>
            <a:r>
              <a:rPr lang="en-IN" sz="2500" dirty="0">
                <a:latin typeface="Times New Roman" panose="02020603050405020304" pitchFamily="18" charset="0"/>
                <a:cs typeface="Times New Roman" panose="02020603050405020304" pitchFamily="18" charset="0"/>
              </a:rPr>
              <a:t>World Health Organization, </a:t>
            </a:r>
            <a:r>
              <a:rPr lang="en-IN" sz="2500" i="1" dirty="0">
                <a:latin typeface="Times New Roman" panose="02020603050405020304" pitchFamily="18" charset="0"/>
                <a:cs typeface="Times New Roman" panose="02020603050405020304" pitchFamily="18" charset="0"/>
              </a:rPr>
              <a:t>Air Quality Guidelines: Global Update 2005</a:t>
            </a:r>
            <a:r>
              <a:rPr lang="en-IN" sz="2500" dirty="0">
                <a:latin typeface="Times New Roman" panose="02020603050405020304" pitchFamily="18" charset="0"/>
                <a:cs typeface="Times New Roman" panose="02020603050405020304" pitchFamily="18" charset="0"/>
              </a:rPr>
              <a:t>, WHO Press, Geneva, Switzerland, 2006.</a:t>
            </a:r>
          </a:p>
          <a:p>
            <a:pPr marL="457200" lvl="0" indent="-457200">
              <a:buFont typeface="+mj-lt"/>
              <a:buAutoNum type="arabicPeriod"/>
            </a:pPr>
            <a:r>
              <a:rPr lang="en-IN" sz="2500" dirty="0">
                <a:latin typeface="Times New Roman" panose="02020603050405020304" pitchFamily="18" charset="0"/>
                <a:cs typeface="Times New Roman" panose="02020603050405020304" pitchFamily="18" charset="0"/>
              </a:rPr>
              <a:t>J. </a:t>
            </a:r>
            <a:r>
              <a:rPr lang="en-IN" sz="2500" dirty="0" err="1">
                <a:latin typeface="Times New Roman" panose="02020603050405020304" pitchFamily="18" charset="0"/>
                <a:cs typeface="Times New Roman" panose="02020603050405020304" pitchFamily="18" charset="0"/>
              </a:rPr>
              <a:t>Lelieveld</a:t>
            </a:r>
            <a:r>
              <a:rPr lang="en-IN" sz="2500" dirty="0">
                <a:latin typeface="Times New Roman" panose="02020603050405020304" pitchFamily="18" charset="0"/>
                <a:cs typeface="Times New Roman" panose="02020603050405020304" pitchFamily="18" charset="0"/>
              </a:rPr>
              <a:t>, J. S. Evans, M. </a:t>
            </a:r>
            <a:r>
              <a:rPr lang="en-IN" sz="2500" dirty="0" err="1">
                <a:latin typeface="Times New Roman" panose="02020603050405020304" pitchFamily="18" charset="0"/>
                <a:cs typeface="Times New Roman" panose="02020603050405020304" pitchFamily="18" charset="0"/>
              </a:rPr>
              <a:t>Fnais</a:t>
            </a:r>
            <a:r>
              <a:rPr lang="en-IN" sz="2500" dirty="0">
                <a:latin typeface="Times New Roman" panose="02020603050405020304" pitchFamily="18" charset="0"/>
                <a:cs typeface="Times New Roman" panose="02020603050405020304" pitchFamily="18" charset="0"/>
              </a:rPr>
              <a:t>, D. </a:t>
            </a:r>
            <a:r>
              <a:rPr lang="en-IN" sz="2500" dirty="0" err="1">
                <a:latin typeface="Times New Roman" panose="02020603050405020304" pitchFamily="18" charset="0"/>
                <a:cs typeface="Times New Roman" panose="02020603050405020304" pitchFamily="18" charset="0"/>
              </a:rPr>
              <a:t>Giannadaki</a:t>
            </a:r>
            <a:r>
              <a:rPr lang="en-IN" sz="2500" dirty="0">
                <a:latin typeface="Times New Roman" panose="02020603050405020304" pitchFamily="18" charset="0"/>
                <a:cs typeface="Times New Roman" panose="02020603050405020304" pitchFamily="18" charset="0"/>
              </a:rPr>
              <a:t>, and A. </a:t>
            </a:r>
            <a:r>
              <a:rPr lang="en-IN" sz="2500" dirty="0" err="1">
                <a:latin typeface="Times New Roman" panose="02020603050405020304" pitchFamily="18" charset="0"/>
                <a:cs typeface="Times New Roman" panose="02020603050405020304" pitchFamily="18" charset="0"/>
              </a:rPr>
              <a:t>Pozzer</a:t>
            </a:r>
            <a:r>
              <a:rPr lang="en-IN" sz="2500" dirty="0">
                <a:latin typeface="Times New Roman" panose="02020603050405020304" pitchFamily="18" charset="0"/>
                <a:cs typeface="Times New Roman" panose="02020603050405020304" pitchFamily="18" charset="0"/>
              </a:rPr>
              <a:t>, “The contribution of outdoor air pollution sources to premature mortality on a global scale,” </a:t>
            </a:r>
            <a:r>
              <a:rPr lang="en-IN" sz="2500" i="1" dirty="0">
                <a:latin typeface="Times New Roman" panose="02020603050405020304" pitchFamily="18" charset="0"/>
                <a:cs typeface="Times New Roman" panose="02020603050405020304" pitchFamily="18" charset="0"/>
              </a:rPr>
              <a:t>Nature</a:t>
            </a:r>
            <a:r>
              <a:rPr lang="en-IN" sz="2500" dirty="0">
                <a:latin typeface="Times New Roman" panose="02020603050405020304" pitchFamily="18" charset="0"/>
                <a:cs typeface="Times New Roman" panose="02020603050405020304" pitchFamily="18" charset="0"/>
              </a:rPr>
              <a:t>, vol. 525, no. 7569, pp. 367–371, 2015.</a:t>
            </a:r>
          </a:p>
          <a:p>
            <a:pPr marL="457200" lvl="0" indent="-457200">
              <a:buFont typeface="+mj-lt"/>
              <a:buAutoNum type="arabicPeriod"/>
            </a:pPr>
            <a:r>
              <a:rPr lang="en-IN" sz="2500" dirty="0">
                <a:latin typeface="Times New Roman" panose="02020603050405020304" pitchFamily="18" charset="0"/>
                <a:cs typeface="Times New Roman" panose="02020603050405020304" pitchFamily="18" charset="0"/>
              </a:rPr>
              <a:t>R. D. Brook et al., “Particulate matter air pollution and cardiovascular disease,” </a:t>
            </a:r>
            <a:r>
              <a:rPr lang="en-IN" sz="2500" i="1" dirty="0">
                <a:latin typeface="Times New Roman" panose="02020603050405020304" pitchFamily="18" charset="0"/>
                <a:cs typeface="Times New Roman" panose="02020603050405020304" pitchFamily="18" charset="0"/>
              </a:rPr>
              <a:t>Circulation</a:t>
            </a:r>
            <a:r>
              <a:rPr lang="en-IN" sz="2500" dirty="0">
                <a:latin typeface="Times New Roman" panose="02020603050405020304" pitchFamily="18" charset="0"/>
                <a:cs typeface="Times New Roman" panose="02020603050405020304" pitchFamily="18" charset="0"/>
              </a:rPr>
              <a:t>, vol. 121, no. 21, pp. 2331–2378, 2010.</a:t>
            </a:r>
          </a:p>
          <a:p>
            <a:pPr marL="457200" lvl="0" indent="-457200">
              <a:buFont typeface="+mj-lt"/>
              <a:buAutoNum type="arabicPeriod"/>
            </a:pPr>
            <a:r>
              <a:rPr lang="en-IN" sz="2500" dirty="0">
                <a:latin typeface="Times New Roman" panose="02020603050405020304" pitchFamily="18" charset="0"/>
                <a:cs typeface="Times New Roman" panose="02020603050405020304" pitchFamily="18" charset="0"/>
              </a:rPr>
              <a:t>M. Grange et al., “Challenges in air quality prediction: A review,” </a:t>
            </a:r>
            <a:r>
              <a:rPr lang="en-IN" sz="2500" i="1" dirty="0">
                <a:latin typeface="Times New Roman" panose="02020603050405020304" pitchFamily="18" charset="0"/>
                <a:cs typeface="Times New Roman" panose="02020603050405020304" pitchFamily="18" charset="0"/>
              </a:rPr>
              <a:t>Atmospheric Environment</a:t>
            </a:r>
            <a:r>
              <a:rPr lang="en-IN" sz="2500" dirty="0">
                <a:latin typeface="Times New Roman" panose="02020603050405020304" pitchFamily="18" charset="0"/>
                <a:cs typeface="Times New Roman" panose="02020603050405020304" pitchFamily="18" charset="0"/>
              </a:rPr>
              <a:t>, vol. 231, pp. 117–130, 2020.</a:t>
            </a:r>
          </a:p>
          <a:p>
            <a:pPr marL="457200" lvl="0" indent="-457200">
              <a:buFont typeface="+mj-lt"/>
              <a:buAutoNum type="arabicPeriod"/>
            </a:pPr>
            <a:r>
              <a:rPr lang="en-IN" sz="2500" dirty="0">
                <a:latin typeface="Times New Roman" panose="02020603050405020304" pitchFamily="18" charset="0"/>
                <a:cs typeface="Times New Roman" panose="02020603050405020304" pitchFamily="18" charset="0"/>
              </a:rPr>
              <a:t>G. Box, G. Jenkins, G. Reinsel, and G. Ljung, </a:t>
            </a:r>
            <a:r>
              <a:rPr lang="en-IN" sz="2500" i="1" dirty="0">
                <a:latin typeface="Times New Roman" panose="02020603050405020304" pitchFamily="18" charset="0"/>
                <a:cs typeface="Times New Roman" panose="02020603050405020304" pitchFamily="18" charset="0"/>
              </a:rPr>
              <a:t>Time Series Analysis: Forecasting and Control</a:t>
            </a:r>
            <a:r>
              <a:rPr lang="en-IN" sz="2500" dirty="0">
                <a:latin typeface="Times New Roman" panose="02020603050405020304" pitchFamily="18" charset="0"/>
                <a:cs typeface="Times New Roman" panose="02020603050405020304" pitchFamily="18" charset="0"/>
              </a:rPr>
              <a:t>, 5th ed., Hoboken, NJ, USA: Wiley, 2015.</a:t>
            </a:r>
          </a:p>
          <a:p>
            <a:pPr marL="457200" lvl="0" indent="-457200">
              <a:buFont typeface="+mj-lt"/>
              <a:buAutoNum type="arabicPeriod"/>
            </a:pPr>
            <a:r>
              <a:rPr lang="en-IN" sz="2500" dirty="0">
                <a:latin typeface="Times New Roman" panose="02020603050405020304" pitchFamily="18" charset="0"/>
                <a:cs typeface="Times New Roman" panose="02020603050405020304" pitchFamily="18" charset="0"/>
              </a:rPr>
              <a:t>L. </a:t>
            </a:r>
            <a:r>
              <a:rPr lang="en-IN" sz="2500" dirty="0" err="1">
                <a:latin typeface="Times New Roman" panose="02020603050405020304" pitchFamily="18" charset="0"/>
                <a:cs typeface="Times New Roman" panose="02020603050405020304" pitchFamily="18" charset="0"/>
              </a:rPr>
              <a:t>Breiman</a:t>
            </a:r>
            <a:r>
              <a:rPr lang="en-IN" sz="2500" dirty="0">
                <a:latin typeface="Times New Roman" panose="02020603050405020304" pitchFamily="18" charset="0"/>
                <a:cs typeface="Times New Roman" panose="02020603050405020304" pitchFamily="18" charset="0"/>
              </a:rPr>
              <a:t>, “Random forests,” </a:t>
            </a:r>
            <a:r>
              <a:rPr lang="en-IN" sz="2500" i="1" dirty="0">
                <a:latin typeface="Times New Roman" panose="02020603050405020304" pitchFamily="18" charset="0"/>
                <a:cs typeface="Times New Roman" panose="02020603050405020304" pitchFamily="18" charset="0"/>
              </a:rPr>
              <a:t>Machine Learning</a:t>
            </a:r>
            <a:r>
              <a:rPr lang="en-IN" sz="2500" dirty="0">
                <a:latin typeface="Times New Roman" panose="02020603050405020304" pitchFamily="18" charset="0"/>
                <a:cs typeface="Times New Roman" panose="02020603050405020304" pitchFamily="18" charset="0"/>
              </a:rPr>
              <a:t>, vol. 45, no. 1, pp. 5–32, 2001.</a:t>
            </a:r>
          </a:p>
          <a:p>
            <a:pPr marL="457200" lvl="0" indent="-457200">
              <a:buFont typeface="+mj-lt"/>
              <a:buAutoNum type="arabicPeriod"/>
            </a:pPr>
            <a:r>
              <a:rPr lang="en-IN" sz="2500" dirty="0">
                <a:latin typeface="Times New Roman" panose="02020603050405020304" pitchFamily="18" charset="0"/>
                <a:cs typeface="Times New Roman" panose="02020603050405020304" pitchFamily="18" charset="0"/>
              </a:rPr>
              <a:t>C. Cortes and V. </a:t>
            </a:r>
            <a:r>
              <a:rPr lang="en-IN" sz="2500" dirty="0" err="1">
                <a:latin typeface="Times New Roman" panose="02020603050405020304" pitchFamily="18" charset="0"/>
                <a:cs typeface="Times New Roman" panose="02020603050405020304" pitchFamily="18" charset="0"/>
              </a:rPr>
              <a:t>Vapnik</a:t>
            </a:r>
            <a:r>
              <a:rPr lang="en-IN" sz="2500" dirty="0">
                <a:latin typeface="Times New Roman" panose="02020603050405020304" pitchFamily="18" charset="0"/>
                <a:cs typeface="Times New Roman" panose="02020603050405020304" pitchFamily="18" charset="0"/>
              </a:rPr>
              <a:t>, “Support-vector networks,” </a:t>
            </a:r>
            <a:r>
              <a:rPr lang="en-IN" sz="2500" i="1" dirty="0">
                <a:latin typeface="Times New Roman" panose="02020603050405020304" pitchFamily="18" charset="0"/>
                <a:cs typeface="Times New Roman" panose="02020603050405020304" pitchFamily="18" charset="0"/>
              </a:rPr>
              <a:t>Machine Learning</a:t>
            </a:r>
            <a:r>
              <a:rPr lang="en-IN" sz="2500" dirty="0">
                <a:latin typeface="Times New Roman" panose="02020603050405020304" pitchFamily="18" charset="0"/>
                <a:cs typeface="Times New Roman" panose="02020603050405020304" pitchFamily="18" charset="0"/>
              </a:rPr>
              <a:t>, vol. 20, no. 3, pp. 273–297, 1995.</a:t>
            </a:r>
          </a:p>
          <a:p>
            <a:pPr marL="457200" lvl="0" indent="-457200">
              <a:buFont typeface="+mj-lt"/>
              <a:buAutoNum type="arabicPeriod"/>
            </a:pPr>
            <a:r>
              <a:rPr lang="en-IN" sz="2500" dirty="0">
                <a:latin typeface="Times New Roman" panose="02020603050405020304" pitchFamily="18" charset="0"/>
                <a:cs typeface="Times New Roman" panose="02020603050405020304" pitchFamily="18" charset="0"/>
              </a:rPr>
              <a:t>S. Hochreiter and J. </a:t>
            </a:r>
            <a:r>
              <a:rPr lang="en-IN" sz="2500" dirty="0" err="1">
                <a:latin typeface="Times New Roman" panose="02020603050405020304" pitchFamily="18" charset="0"/>
                <a:cs typeface="Times New Roman" panose="02020603050405020304" pitchFamily="18" charset="0"/>
              </a:rPr>
              <a:t>Schmidhuber</a:t>
            </a:r>
            <a:r>
              <a:rPr lang="en-IN" sz="2500" dirty="0">
                <a:latin typeface="Times New Roman" panose="02020603050405020304" pitchFamily="18" charset="0"/>
                <a:cs typeface="Times New Roman" panose="02020603050405020304" pitchFamily="18" charset="0"/>
              </a:rPr>
              <a:t>, “Long short-term memory,” </a:t>
            </a:r>
            <a:r>
              <a:rPr lang="en-IN" sz="2500" i="1" dirty="0">
                <a:latin typeface="Times New Roman" panose="02020603050405020304" pitchFamily="18" charset="0"/>
                <a:cs typeface="Times New Roman" panose="02020603050405020304" pitchFamily="18" charset="0"/>
              </a:rPr>
              <a:t>Neural Computation</a:t>
            </a:r>
            <a:r>
              <a:rPr lang="en-IN" sz="2500" dirty="0">
                <a:latin typeface="Times New Roman" panose="02020603050405020304" pitchFamily="18" charset="0"/>
                <a:cs typeface="Times New Roman" panose="02020603050405020304" pitchFamily="18" charset="0"/>
              </a:rPr>
              <a:t>, vol. 9, no. 8, pp. 1735–1780, 1997.</a:t>
            </a:r>
          </a:p>
          <a:p>
            <a:pPr marL="457200" lvl="0" indent="-457200">
              <a:buFont typeface="+mj-lt"/>
              <a:buAutoNum type="arabicPeriod"/>
            </a:pPr>
            <a:r>
              <a:rPr lang="en-IN" sz="2500" dirty="0">
                <a:latin typeface="Times New Roman" panose="02020603050405020304" pitchFamily="18" charset="0"/>
                <a:cs typeface="Times New Roman" panose="02020603050405020304" pitchFamily="18" charset="0"/>
              </a:rPr>
              <a:t>Y. Yan, S. Yang, and Y. Wang, “A CNN-LSTM based hybrid model for air quality prediction,” </a:t>
            </a:r>
            <a:r>
              <a:rPr lang="en-IN" sz="2500" i="1" dirty="0">
                <a:latin typeface="Times New Roman" panose="02020603050405020304" pitchFamily="18" charset="0"/>
                <a:cs typeface="Times New Roman" panose="02020603050405020304" pitchFamily="18" charset="0"/>
              </a:rPr>
              <a:t>Environmental Modelling &amp; Software</a:t>
            </a:r>
            <a:r>
              <a:rPr lang="en-IN" sz="2500" dirty="0">
                <a:latin typeface="Times New Roman" panose="02020603050405020304" pitchFamily="18" charset="0"/>
                <a:cs typeface="Times New Roman" panose="02020603050405020304" pitchFamily="18" charset="0"/>
              </a:rPr>
              <a:t>, vol. 128, pp. 104–115, 2020.</a:t>
            </a:r>
          </a:p>
          <a:p>
            <a:pPr marL="457200" lvl="0" indent="-457200">
              <a:buFont typeface="+mj-lt"/>
              <a:buAutoNum type="arabicPeriod"/>
            </a:pPr>
            <a:r>
              <a:rPr lang="en-IN" sz="2500" dirty="0">
                <a:latin typeface="Times New Roman" panose="02020603050405020304" pitchFamily="18" charset="0"/>
                <a:cs typeface="Times New Roman" panose="02020603050405020304" pitchFamily="18" charset="0"/>
              </a:rPr>
              <a:t>T. Chen and C. </a:t>
            </a:r>
            <a:r>
              <a:rPr lang="en-IN" sz="2500" dirty="0" err="1">
                <a:latin typeface="Times New Roman" panose="02020603050405020304" pitchFamily="18" charset="0"/>
                <a:cs typeface="Times New Roman" panose="02020603050405020304" pitchFamily="18" charset="0"/>
              </a:rPr>
              <a:t>Guestrin</a:t>
            </a:r>
            <a:r>
              <a:rPr lang="en-IN" sz="2500" dirty="0">
                <a:latin typeface="Times New Roman" panose="02020603050405020304" pitchFamily="18" charset="0"/>
                <a:cs typeface="Times New Roman" panose="02020603050405020304" pitchFamily="18" charset="0"/>
              </a:rPr>
              <a:t>, “</a:t>
            </a:r>
            <a:r>
              <a:rPr lang="en-IN" sz="2500" dirty="0" err="1">
                <a:latin typeface="Times New Roman" panose="02020603050405020304" pitchFamily="18" charset="0"/>
                <a:cs typeface="Times New Roman" panose="02020603050405020304" pitchFamily="18" charset="0"/>
              </a:rPr>
              <a:t>XGBoost</a:t>
            </a:r>
            <a:r>
              <a:rPr lang="en-IN" sz="2500" dirty="0">
                <a:latin typeface="Times New Roman" panose="02020603050405020304" pitchFamily="18" charset="0"/>
                <a:cs typeface="Times New Roman" panose="02020603050405020304" pitchFamily="18" charset="0"/>
              </a:rPr>
              <a:t>: A scalable tree boosting system,” in </a:t>
            </a:r>
            <a:r>
              <a:rPr lang="en-IN" sz="2500" i="1" dirty="0">
                <a:latin typeface="Times New Roman" panose="02020603050405020304" pitchFamily="18" charset="0"/>
                <a:cs typeface="Times New Roman" panose="02020603050405020304" pitchFamily="18" charset="0"/>
              </a:rPr>
              <a:t>Proc. 22nd ACM SIGKDD Int. Conf. Knowledge Discovery and Data Mining</a:t>
            </a:r>
            <a:r>
              <a:rPr lang="en-IN" sz="2500" dirty="0">
                <a:latin typeface="Times New Roman" panose="02020603050405020304" pitchFamily="18" charset="0"/>
                <a:cs typeface="Times New Roman" panose="02020603050405020304" pitchFamily="18" charset="0"/>
              </a:rPr>
              <a:t>, San Francisco, CA, USA, 2016, pp. 785–794.</a:t>
            </a:r>
          </a:p>
          <a:p>
            <a:pPr marL="457200" lvl="0" indent="-457200">
              <a:buFont typeface="+mj-lt"/>
              <a:buAutoNum type="arabicPeriod"/>
            </a:pPr>
            <a:r>
              <a:rPr lang="en-IN" sz="2500" dirty="0">
                <a:latin typeface="Times New Roman" panose="02020603050405020304" pitchFamily="18" charset="0"/>
                <a:cs typeface="Times New Roman" panose="02020603050405020304" pitchFamily="18" charset="0"/>
              </a:rPr>
              <a:t>S. M. Lundberg and S.-I. Lee, “A unified approach to interpreting model predictions,” in </a:t>
            </a:r>
            <a:r>
              <a:rPr lang="en-IN" sz="2500" i="1" dirty="0">
                <a:latin typeface="Times New Roman" panose="02020603050405020304" pitchFamily="18" charset="0"/>
                <a:cs typeface="Times New Roman" panose="02020603050405020304" pitchFamily="18" charset="0"/>
              </a:rPr>
              <a:t>Proc. 31st Int. Conf. Neural Information Processing Systems (</a:t>
            </a:r>
            <a:r>
              <a:rPr lang="en-IN" sz="2500" i="1" dirty="0" err="1">
                <a:latin typeface="Times New Roman" panose="02020603050405020304" pitchFamily="18" charset="0"/>
                <a:cs typeface="Times New Roman" panose="02020603050405020304" pitchFamily="18" charset="0"/>
              </a:rPr>
              <a:t>NeurIPS</a:t>
            </a:r>
            <a:r>
              <a:rPr lang="en-IN" sz="2500" i="1" dirty="0">
                <a:latin typeface="Times New Roman" panose="02020603050405020304" pitchFamily="18" charset="0"/>
                <a:cs typeface="Times New Roman" panose="02020603050405020304" pitchFamily="18" charset="0"/>
              </a:rPr>
              <a:t>)</a:t>
            </a:r>
            <a:r>
              <a:rPr lang="en-IN" sz="2500" dirty="0">
                <a:latin typeface="Times New Roman" panose="02020603050405020304" pitchFamily="18" charset="0"/>
                <a:cs typeface="Times New Roman" panose="02020603050405020304" pitchFamily="18" charset="0"/>
              </a:rPr>
              <a:t>, Long Beach, CA, USA, 2017, pp. 4765–4774.</a:t>
            </a:r>
          </a:p>
          <a:p>
            <a:pPr marL="457200" lvl="0" indent="-457200">
              <a:buFont typeface="+mj-lt"/>
              <a:buAutoNum type="arabicPeriod"/>
            </a:pPr>
            <a:r>
              <a:rPr lang="en-IN" sz="2500" dirty="0">
                <a:latin typeface="Times New Roman" panose="02020603050405020304" pitchFamily="18" charset="0"/>
                <a:cs typeface="Times New Roman" panose="02020603050405020304" pitchFamily="18" charset="0"/>
              </a:rPr>
              <a:t>M. T. Ribeiro, S. Singh, and C. </a:t>
            </a:r>
            <a:r>
              <a:rPr lang="en-IN" sz="2500" dirty="0" err="1">
                <a:latin typeface="Times New Roman" panose="02020603050405020304" pitchFamily="18" charset="0"/>
                <a:cs typeface="Times New Roman" panose="02020603050405020304" pitchFamily="18" charset="0"/>
              </a:rPr>
              <a:t>Guestrin</a:t>
            </a:r>
            <a:r>
              <a:rPr lang="en-IN" sz="2500" dirty="0">
                <a:latin typeface="Times New Roman" panose="02020603050405020304" pitchFamily="18" charset="0"/>
                <a:cs typeface="Times New Roman" panose="02020603050405020304" pitchFamily="18" charset="0"/>
              </a:rPr>
              <a:t>, “Why should I trust you? Explaining the predictions of any classifier,” in </a:t>
            </a:r>
            <a:r>
              <a:rPr lang="en-IN" sz="2500" i="1" dirty="0">
                <a:latin typeface="Times New Roman" panose="02020603050405020304" pitchFamily="18" charset="0"/>
                <a:cs typeface="Times New Roman" panose="02020603050405020304" pitchFamily="18" charset="0"/>
              </a:rPr>
              <a:t>Proc. 22nd ACM SIGKDD Int. Conf. Knowledge Discovery and Data Mining</a:t>
            </a:r>
            <a:r>
              <a:rPr lang="en-IN" sz="2500" dirty="0">
                <a:latin typeface="Times New Roman" panose="02020603050405020304" pitchFamily="18" charset="0"/>
                <a:cs typeface="Times New Roman" panose="02020603050405020304" pitchFamily="18" charset="0"/>
              </a:rPr>
              <a:t>, San Francisco, CA, USA, 2016, pp. 1135–1144.</a:t>
            </a:r>
          </a:p>
          <a:p>
            <a:pPr marL="457200" lvl="0" indent="-457200">
              <a:buFont typeface="+mj-lt"/>
              <a:buAutoNum type="arabicPeriod"/>
            </a:pPr>
            <a:r>
              <a:rPr lang="en-IN" sz="2500" dirty="0">
                <a:latin typeface="Times New Roman" panose="02020603050405020304" pitchFamily="18" charset="0"/>
                <a:cs typeface="Times New Roman" panose="02020603050405020304" pitchFamily="18" charset="0"/>
              </a:rPr>
              <a:t>A. </a:t>
            </a:r>
            <a:r>
              <a:rPr lang="en-IN" sz="2500" dirty="0" err="1">
                <a:latin typeface="Times New Roman" panose="02020603050405020304" pitchFamily="18" charset="0"/>
                <a:cs typeface="Times New Roman" panose="02020603050405020304" pitchFamily="18" charset="0"/>
              </a:rPr>
              <a:t>Adadi</a:t>
            </a:r>
            <a:r>
              <a:rPr lang="en-IN" sz="2500" dirty="0">
                <a:latin typeface="Times New Roman" panose="02020603050405020304" pitchFamily="18" charset="0"/>
                <a:cs typeface="Times New Roman" panose="02020603050405020304" pitchFamily="18" charset="0"/>
              </a:rPr>
              <a:t> and M. Berrada, “Peeking inside the black box: A survey on explainable artificial intelligence (XAI),” </a:t>
            </a:r>
            <a:r>
              <a:rPr lang="en-IN" sz="2500" i="1" dirty="0">
                <a:latin typeface="Times New Roman" panose="02020603050405020304" pitchFamily="18" charset="0"/>
                <a:cs typeface="Times New Roman" panose="02020603050405020304" pitchFamily="18" charset="0"/>
              </a:rPr>
              <a:t>IEEE Access</a:t>
            </a:r>
            <a:r>
              <a:rPr lang="en-IN" sz="2500" dirty="0">
                <a:latin typeface="Times New Roman" panose="02020603050405020304" pitchFamily="18" charset="0"/>
                <a:cs typeface="Times New Roman" panose="02020603050405020304" pitchFamily="18" charset="0"/>
              </a:rPr>
              <a:t>, vol. 6, pp. 52138–52160, 2018.</a:t>
            </a:r>
          </a:p>
          <a:p>
            <a:pPr marL="457200" lvl="0" indent="-457200">
              <a:buFont typeface="+mj-lt"/>
              <a:buAutoNum type="arabicPeriod"/>
            </a:pPr>
            <a:r>
              <a:rPr lang="en-IN" sz="2500" dirty="0">
                <a:latin typeface="Times New Roman" panose="02020603050405020304" pitchFamily="18" charset="0"/>
                <a:cs typeface="Times New Roman" panose="02020603050405020304" pitchFamily="18" charset="0"/>
              </a:rPr>
              <a:t>J. Yoon, D. Jarrett, and M. van der Schaar, “Time-series generative adversarial networks,” in </a:t>
            </a:r>
            <a:r>
              <a:rPr lang="en-IN" sz="2500" i="1" dirty="0">
                <a:latin typeface="Times New Roman" panose="02020603050405020304" pitchFamily="18" charset="0"/>
                <a:cs typeface="Times New Roman" panose="02020603050405020304" pitchFamily="18" charset="0"/>
              </a:rPr>
              <a:t>Proc. 33rd Int. Conf. Neural Information Processing Systems (</a:t>
            </a:r>
            <a:r>
              <a:rPr lang="en-IN" sz="2500" i="1" dirty="0" err="1">
                <a:latin typeface="Times New Roman" panose="02020603050405020304" pitchFamily="18" charset="0"/>
                <a:cs typeface="Times New Roman" panose="02020603050405020304" pitchFamily="18" charset="0"/>
              </a:rPr>
              <a:t>NeurIPS</a:t>
            </a:r>
            <a:r>
              <a:rPr lang="en-IN" sz="2500" i="1" dirty="0">
                <a:latin typeface="Times New Roman" panose="02020603050405020304" pitchFamily="18" charset="0"/>
                <a:cs typeface="Times New Roman" panose="02020603050405020304" pitchFamily="18" charset="0"/>
              </a:rPr>
              <a:t>)</a:t>
            </a:r>
            <a:r>
              <a:rPr lang="en-IN" sz="2500" dirty="0">
                <a:latin typeface="Times New Roman" panose="02020603050405020304" pitchFamily="18" charset="0"/>
                <a:cs typeface="Times New Roman" panose="02020603050405020304" pitchFamily="18" charset="0"/>
              </a:rPr>
              <a:t>, Vancouver, BC, Canada, 2019, pp. 5509–5519.</a:t>
            </a:r>
          </a:p>
          <a:p>
            <a:pPr marL="457200" lvl="0" indent="-457200">
              <a:buFont typeface="+mj-lt"/>
              <a:buAutoNum type="arabicPeriod"/>
            </a:pPr>
            <a:r>
              <a:rPr lang="en-IN" sz="2500" dirty="0">
                <a:latin typeface="Times New Roman" panose="02020603050405020304" pitchFamily="18" charset="0"/>
                <a:cs typeface="Times New Roman" panose="02020603050405020304" pitchFamily="18" charset="0"/>
              </a:rPr>
              <a:t>Z. Wu et al., “Hybrid models for AQI prediction based on signal decomposition and machine learning,” </a:t>
            </a:r>
            <a:r>
              <a:rPr lang="en-IN" sz="2500" i="1" dirty="0">
                <a:latin typeface="Times New Roman" panose="02020603050405020304" pitchFamily="18" charset="0"/>
                <a:cs typeface="Times New Roman" panose="02020603050405020304" pitchFamily="18" charset="0"/>
              </a:rPr>
              <a:t>Atmospheric Pollution Research</a:t>
            </a:r>
            <a:r>
              <a:rPr lang="en-IN" sz="2500" dirty="0">
                <a:latin typeface="Times New Roman" panose="02020603050405020304" pitchFamily="18" charset="0"/>
                <a:cs typeface="Times New Roman" panose="02020603050405020304" pitchFamily="18" charset="0"/>
              </a:rPr>
              <a:t>, vol. 10, no. 6, pp. 1927–1937, 2019.</a:t>
            </a:r>
          </a:p>
          <a:p>
            <a:pPr marL="457200" lvl="0" indent="-457200">
              <a:buFont typeface="+mj-lt"/>
              <a:buAutoNum type="arabicPeriod"/>
            </a:pPr>
            <a:r>
              <a:rPr lang="en-IN" sz="2500" dirty="0">
                <a:latin typeface="Times New Roman" panose="02020603050405020304" pitchFamily="18" charset="0"/>
                <a:cs typeface="Times New Roman" panose="02020603050405020304" pitchFamily="18" charset="0"/>
              </a:rPr>
              <a:t>Y. Zhang, S. Wang, and J. Wang, “Air quality forecasting using hybrid deep learning models,” </a:t>
            </a:r>
            <a:r>
              <a:rPr lang="en-IN" sz="2500" i="1" dirty="0">
                <a:latin typeface="Times New Roman" panose="02020603050405020304" pitchFamily="18" charset="0"/>
                <a:cs typeface="Times New Roman" panose="02020603050405020304" pitchFamily="18" charset="0"/>
              </a:rPr>
              <a:t>IEEE Transactions on Industrial Informatics</a:t>
            </a:r>
            <a:r>
              <a:rPr lang="en-IN" sz="2500" dirty="0">
                <a:latin typeface="Times New Roman" panose="02020603050405020304" pitchFamily="18" charset="0"/>
                <a:cs typeface="Times New Roman" panose="02020603050405020304" pitchFamily="18" charset="0"/>
              </a:rPr>
              <a:t>, vol. 16, no. 6, pp. 3771–3781, 2020.</a:t>
            </a:r>
          </a:p>
          <a:p>
            <a:pPr marL="457200" lvl="0" indent="-457200">
              <a:buFont typeface="+mj-lt"/>
              <a:buAutoNum type="arabicPeriod"/>
            </a:pPr>
            <a:r>
              <a:rPr lang="en-IN" sz="2500" dirty="0">
                <a:latin typeface="Times New Roman" panose="02020603050405020304" pitchFamily="18" charset="0"/>
                <a:cs typeface="Times New Roman" panose="02020603050405020304" pitchFamily="18" charset="0"/>
              </a:rPr>
              <a:t>S. Liu et al., “Explainable machine learning for air quality prediction,” </a:t>
            </a:r>
            <a:r>
              <a:rPr lang="en-IN" sz="2500" i="1" dirty="0">
                <a:latin typeface="Times New Roman" panose="02020603050405020304" pitchFamily="18" charset="0"/>
                <a:cs typeface="Times New Roman" panose="02020603050405020304" pitchFamily="18" charset="0"/>
              </a:rPr>
              <a:t>Environmental Science &amp; Technology</a:t>
            </a:r>
            <a:r>
              <a:rPr lang="en-IN" sz="2500" dirty="0">
                <a:latin typeface="Times New Roman" panose="02020603050405020304" pitchFamily="18" charset="0"/>
                <a:cs typeface="Times New Roman" panose="02020603050405020304" pitchFamily="18" charset="0"/>
              </a:rPr>
              <a:t>, vol. 55, no. 18, pp. 12220–12230, 2021.</a:t>
            </a:r>
          </a:p>
          <a:p>
            <a:pPr marL="457200" lvl="0" indent="-457200">
              <a:buFont typeface="+mj-lt"/>
              <a:buAutoNum type="arabicPeriod"/>
            </a:pPr>
            <a:r>
              <a:rPr lang="en-IN" sz="2500" dirty="0">
                <a:latin typeface="Times New Roman" panose="02020603050405020304" pitchFamily="18" charset="0"/>
                <a:cs typeface="Times New Roman" panose="02020603050405020304" pitchFamily="18" charset="0"/>
              </a:rPr>
              <a:t>A. Verma and V. Sharma, “Air Quality Index (AQI) Prediction Using Machine Learning and Deep Learning Approaches,” </a:t>
            </a:r>
            <a:r>
              <a:rPr lang="en-IN" sz="2500" i="1" dirty="0">
                <a:latin typeface="Times New Roman" panose="02020603050405020304" pitchFamily="18" charset="0"/>
                <a:cs typeface="Times New Roman" panose="02020603050405020304" pitchFamily="18" charset="0"/>
              </a:rPr>
              <a:t>International Journal for Research in Applied Science &amp; Engineering Technology (IJRASET)</a:t>
            </a:r>
            <a:r>
              <a:rPr lang="en-IN" sz="2500" dirty="0">
                <a:latin typeface="Times New Roman" panose="02020603050405020304" pitchFamily="18" charset="0"/>
                <a:cs typeface="Times New Roman" panose="02020603050405020304" pitchFamily="18" charset="0"/>
              </a:rPr>
              <a:t>, vol. 13, no. 5, May 2025, ISSN: 2321-9653.</a:t>
            </a:r>
          </a:p>
          <a:p>
            <a:pPr marL="0" indent="0">
              <a:buNone/>
            </a:pPr>
            <a:endParaRPr lang="en-IN" dirty="0"/>
          </a:p>
        </p:txBody>
      </p:sp>
    </p:spTree>
    <p:extLst>
      <p:ext uri="{BB962C8B-B14F-4D97-AF65-F5344CB8AC3E}">
        <p14:creationId xmlns:p14="http://schemas.microsoft.com/office/powerpoint/2010/main" val="27249175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545969" y="2766218"/>
            <a:ext cx="5257800" cy="1325563"/>
          </a:xfrm>
        </p:spPr>
        <p:txBody>
          <a:bodyPr>
            <a:normAutofit/>
          </a:bodyPr>
          <a:lstStyle/>
          <a:p>
            <a:r>
              <a:rPr lang="en-IN" sz="6000" dirty="0"/>
              <a:t>Thank You</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635</TotalTime>
  <Words>1866</Words>
  <Application>Microsoft Office PowerPoint</Application>
  <PresentationFormat>Widescreen</PresentationFormat>
  <Paragraphs>172</Paragraphs>
  <Slides>15</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15</vt:i4>
      </vt:variant>
    </vt:vector>
  </HeadingPairs>
  <TitlesOfParts>
    <vt:vector size="24" baseType="lpstr">
      <vt:lpstr>Angsana New</vt:lpstr>
      <vt:lpstr>Aptos</vt:lpstr>
      <vt:lpstr>Aptos Display</vt:lpstr>
      <vt:lpstr>Arial</vt:lpstr>
      <vt:lpstr>Calibri</vt:lpstr>
      <vt:lpstr>Times New Roman</vt:lpstr>
      <vt:lpstr>Wingdings</vt:lpstr>
      <vt:lpstr>Office Theme</vt:lpstr>
      <vt:lpstr>1_Office Theme</vt:lpstr>
      <vt:lpstr>An Explainable Ensemble Framework for Air Quality Index Prediction Using TimeGAN-Inspired Preprocessing and Hybrid Deep Learning Models</vt:lpstr>
      <vt:lpstr>Outline</vt:lpstr>
      <vt:lpstr>Introduction</vt:lpstr>
      <vt:lpstr>Literature Review</vt:lpstr>
      <vt:lpstr>Literature Review</vt:lpstr>
      <vt:lpstr>Problem Statement</vt:lpstr>
      <vt:lpstr>PowerPoint Presentation</vt:lpstr>
      <vt:lpstr>Proposed Methodology</vt:lpstr>
      <vt:lpstr>Proposed Methodology</vt:lpstr>
      <vt:lpstr>Proposed Methodology (Flowchart)</vt:lpstr>
      <vt:lpstr>Result </vt:lpstr>
      <vt:lpstr>Result </vt:lpstr>
      <vt:lpstr>Outcome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Priyal Singhal</cp:lastModifiedBy>
  <cp:revision>26</cp:revision>
  <dcterms:created xsi:type="dcterms:W3CDTF">2025-09-29T05:03:41Z</dcterms:created>
  <dcterms:modified xsi:type="dcterms:W3CDTF">2026-04-14T04:55:02Z</dcterms:modified>
</cp:coreProperties>
</file>